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305" r:id="rId13"/>
    <p:sldId id="266" r:id="rId14"/>
    <p:sldId id="304"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89"/>
    <p:restoredTop sz="71003"/>
  </p:normalViewPr>
  <p:slideViewPr>
    <p:cSldViewPr snapToGrid="0" snapToObjects="1">
      <p:cViewPr>
        <p:scale>
          <a:sx n="151" d="100"/>
          <a:sy n="151" d="100"/>
        </p:scale>
        <p:origin x="616" y="-1096"/>
      </p:cViewPr>
      <p:guideLst/>
    </p:cSldViewPr>
  </p:slideViewPr>
  <p:notesTextViewPr>
    <p:cViewPr>
      <p:scale>
        <a:sx n="130" d="100"/>
        <a:sy n="13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5058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Quick show of hands — who's been paged in the last thirty days? [wait for hands] </a:t>
            </a:r>
          </a:p>
          <a:p>
            <a:r>
              <a:rPr lang="en-US" sz="1200" b="0" i="0" kern="1200" dirty="0">
                <a:solidFill>
                  <a:schemeClr val="tx1"/>
                </a:solidFill>
                <a:effectLst/>
                <a:latin typeface="+mn-lt"/>
                <a:ea typeface="+mn-ea"/>
                <a:cs typeface="+mn-cs"/>
              </a:rPr>
              <a:t>Keep it up if the very first thing you did was open a dashboard and start guessing. </a:t>
            </a:r>
          </a:p>
          <a:p>
            <a:r>
              <a:rPr lang="en-US" sz="1200" b="0" i="0" kern="1200" dirty="0">
                <a:solidFill>
                  <a:schemeClr val="tx1"/>
                </a:solidFill>
                <a:effectLst/>
                <a:latin typeface="+mn-lt"/>
                <a:ea typeface="+mn-ea"/>
                <a:cs typeface="+mn-cs"/>
              </a:rPr>
              <a:t>[hands stay up] [beat] Look around. That's the talk. Every one of those hands is twenty minutes of an engineer manually doing something a machine already had the data to do.</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let’s</a:t>
            </a:r>
            <a:r>
              <a:rPr lang="en-US" dirty="0"/>
              <a:t> talk about what happens after an anomaly detector fires.
Detection is largely a solved problem. The hard part — the expensive part — is what comes next. This talk is about using OpenSearch agent skills to collapse that investigation window from 20 minutes to seconds.
We built a full working implementation — the agent, the alerting loop, the custom tools — and we'll walk through the architecture, the design decisions, and the failure modes that will humble you in production.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number that should bother you: 20 minutes.
That's the average time from "alert fired" to "I know where to look." And this is not time spent fixing the problem — this is just forming a hypothesis. Correlating logs manually, scanning metrics, checking deploy history.
Every minute of that is pure toil. And it compounds at scale — multiple on-calls, multiple incidents per week, every engineer who gets paged at 2AM and has to reconstruct context from scratch.
The anomaly detector did its job. The investigation gap is where we lose.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this concrete. It's 2:14 AM. The anomaly detector fires — it does its job in milliseconds.
But look at what the on-call SRE has to do manually over the next 20 minutes. Each of these steps is a separate query, a separate context switch, a separate tab. "Checks anomaly results" — that's one query. "Correlates error logs" — that's a Discover query against prod-logs. "Checks deploy-events" — that's another index, another filter.
This is the investigation gap. It's not a technology problem — OpenSearch has the data. It's a workflow problem. No one is orchestrating these steps automatically.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OpenSearch's anomaly detection plugin is genuinely good at what it does. It gives you a score, a timestamp, the affected feature, and a confidence grade.
But it stops there. Look at the right column — root cause, which component, what changed, correlated patterns, recommended action. All of that is still on the SRE.
The detector is not wrong to stop here. Surfacing the signal is its job. What we're building is what comes after the signal — the investigation layer that the ML plugin doesn't provide.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to wire these three existing layers together. The anomaly detector already exists. The alerting monitor already exists. What we're adding is the flow agent — which picks up where the detector left off.
The agent runs five tools in sequence: it confirms the anomaly is real, queries error logs in the same window, checks for recent deploys, clusters repeated log patterns, then hands everything to the LLM to synthesise a report.
No human in the loop until the report is ready. The SRE wakes up to a hypothesis, not a dashboard.
The flow agent type in OpenSearch ML Commons is the right primitive here — it's deterministic, sequential, and the tool outputs chain together naturally.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most agent implementations go wrong: they give the model too much power and wonder why it hallucinates.
Principle 1 — Deterministic before generative. Search tools run first. The LLM only sees the output of structured queries. It never decides what to search for. That's the single most important design decision.
Principle 2 — One question per tool. SearchAnomalyResultsTool answers "did an anomaly happen?" Nothing else. Tools that answer multiple questions conflate their results and make synthesis harder.
Principle 3 — Fail loudly. An empty result set is useful information. A hallucinated "no errors found" is dangerous.
Principle 4 — Time windows matter. The anomaly window is your search window. "now-10m" when the anomaly happened 45 minutes ago is a silent bug that produces garbage output.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demo moment. Alert fires at 02:14:32. The webhook triggers the agent. Five tools run in under 2 seconds total.
Notice the timing: SearchAnomalyResultsTool in 47ms, log query in 112ms, deploys in 89ms, log pattern clustering in 203ms, LLM synthesis in 1.2s. Total elapsed: about 1.7 seconds.
The report identifies: payment-service, a deploy from 02:08 UTC (6 minutes before the anomaly), a connection pool exhaustion pattern in 62% of error logs, and a specific remediation.
That's what the SRE would have spent 20 minutes piecing together manually. The agent did it before the pager was acknowledged.
[PAUSE — let the audience read the terminal output]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honest part. These are the failure modes we actually hit.
1. LLM synthesis is the weakest link. Every tool output we feed the model is an opportunity for hallucination. We fixed this by keeping the synthesis prompt narrow: "here is structured data, summarise it." Not "investigate."
2. Wide tool access makes agents confidently wrong. When we gave the agent access to 8 indices instead of 3, it started finding correlations that weren't there. Scope is a feature.
3. Alert fatigue transfers. If the anomaly detector fires 50 times a day, so does the agent. Tune your detector's grade threshold first — we use 0.7 as a minimum.
4. Index naming is a silent footgun. prod-logs and production-logs are different indices. The agent doesn't warn you.
5. Time windows drift. If the anomaly happened 45 minutes ago but the agent queries now-10m, it finds nothing and says so. Match your query window to the detection interval.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compresses the investigation window. It does not own the decision. That boundary matters.
Novel failure modes: the agent pattern-matches against what it's seen before. A completely new failure class — one with no log precedent, no matching deploy — needs a human who can say "I've never seen this either."
Blast radius decisions require context the agent doesn't have: what else is deployed in this region, what other teams depend on this service, whether a rollback would cascade.
Rollback authorisation: someone still has to say yes. The agent surfaces the hypothesis; the human owns the action.
Cross-team coordination: the report lands in Slack because a human sends it.
Context the logs don't hold: "we pushed this exact fix last quarter and it broke things differently" — that knowledge lives in people, not indices. Don't pretend the agent can replace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99CB0-F10A-28D9-A003-732FB967A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5C96E-E201-2E57-6D7B-5C8E2D33EA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5914A-C5F1-232D-BE12-08B5BF3B7336}"/>
              </a:ext>
            </a:extLst>
          </p:cNvPr>
          <p:cNvSpPr>
            <a:spLocks noGrp="1"/>
          </p:cNvSpPr>
          <p:nvPr>
            <p:ph type="body" idx="1"/>
          </p:nvPr>
        </p:nvSpPr>
        <p:spPr/>
        <p:txBody>
          <a:bodyPr/>
          <a:lstStyle/>
          <a:p>
            <a:r>
              <a:rPr lang="en-US" dirty="0"/>
              <a:t>Here's the leave-behind pattern. Three layers you probably already have: anomaly detector, alerting monitor, and now a flow agent.
The webhook is the wire. The tools are the investigation. The MLModelTool synthesis is the last step — not the first.
Start with two tools, not five. Get SearchAnomalyResultsTool and SearchIndexTool working first. Measure dwell time — the time from alert fired to action taken — before and after. That's your before-and-after.
Add tools based on what the reports get wrong, not based on what you think might help. Every tool you add is another surface for hallucination in synthesis.
Ship it. Measure it. Tune it. The pattern scales.</a:t>
            </a:r>
          </a:p>
        </p:txBody>
      </p:sp>
      <p:sp>
        <p:nvSpPr>
          <p:cNvPr id="4" name="Slide Number Placeholder 3">
            <a:extLst>
              <a:ext uri="{FF2B5EF4-FFF2-40B4-BE49-F238E27FC236}">
                <a16:creationId xmlns:a16="http://schemas.microsoft.com/office/drawing/2014/main" id="{D70EA2F4-F928-6916-F452-D017603D37E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999335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implementation is in the repo: github.com/seema1711/opensearch-skills
The agent is wired up. The alerting loop is running. The failure modes I described are all from real debugging — they're not hypothetical.
If you're running OpenSearch 2.12 or later, you have everything you need to wire this today: ML Commons flow agents, the anomaly detection plugin, and the alerting framework are all GA.
Happy to take questions — especially the hard ones about production edge cases, LLM prompt tuning for on-call contexts, or how to handle detectors that fire constantly.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nSpc>
                <a:spcPct val="110000"/>
              </a:lnSpc>
              <a:buNone/>
            </a:pPr>
            <a:r>
              <a:rPr lang="en-US" sz="1200" b="0">
                <a:solidFill>
                  <a:srgbClr val="000000"/>
                </a:solidFill>
                <a:latin typeface="Avenir Next"/>
              </a:rPr>
              <a:t>Closing resource slide. Leave visible during final questions and as people leave.</a:t>
            </a:r>
          </a:p>
          <a:p>
            <a:pPr>
              <a:lnSpc>
                <a:spcPct val="110000"/>
              </a:lnSpc>
              <a:buNone/>
            </a:pPr>
            <a:r>
              <a:rPr lang="en-US" sz="1200" b="0">
                <a:solidFill>
                  <a:srgbClr val="000000"/>
                </a:solidFill>
                <a:latin typeface="Avenir Next"/>
              </a:rPr>
              <a:t>The Advanced RAG course includes the narration and hands-on labs behind these demonstrations.</a:t>
            </a:r>
          </a:p>
          <a:p>
            <a:pPr>
              <a:lnSpc>
                <a:spcPct val="110000"/>
              </a:lnSpc>
              <a:buNone/>
            </a:pPr>
            <a:r>
              <a:rPr lang="en-US" sz="1200" b="0">
                <a:solidFill>
                  <a:srgbClr val="000000"/>
                </a:solidFill>
                <a:latin typeface="Avenir Next"/>
              </a:rPr>
              <a:t>Before presenting: replace bracketed contact fields, confirm the second presenter, and replace the placeholder QR image and short link with the final resource landing page. The supplied QR is a placeholder, not a verified resource destination.</a:t>
            </a:r>
          </a:p>
          <a:p>
            <a:pPr>
              <a:lnSpc>
                <a:spcPct val="110000"/>
              </a:lnSpc>
              <a:buNone/>
            </a:pPr>
            <a:r>
              <a:rPr lang="en-US" sz="1200" b="0">
                <a:solidFill>
                  <a:srgbClr val="000000"/>
                </a:solidFill>
                <a:latin typeface="Avenir Next"/>
              </a:rPr>
              <a:t>Resource pack: slides (PDF and editable deck), demo repository (code, configs, data), Advanced RAG course (narration and labs), follow-up documentation and contact links.</a:t>
            </a:r>
          </a:p>
          <a:p>
            <a:pPr>
              <a:lnSpc>
                <a:spcPct val="110000"/>
              </a:lnSpc>
              <a:buNone/>
            </a:pPr>
            <a:r>
              <a:rPr lang="en-US" sz="1200" b="0">
                <a:solidFill>
                  <a:srgbClr val="000000"/>
                </a:solidFill>
                <a:latin typeface="Avenir Next"/>
              </a:rPr>
              <a:t>Course repository referenced in this deck: https://github.com/instaclustr/InstAcademy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597819"/>
            <a:ext cx="5829300" cy="1102519"/>
          </a:xfrm>
        </p:spPr>
        <p:txBody>
          <a:bodyPr/>
          <a:lstStyle/>
          <a:p>
            <a:r>
              <a:rPr lang="en-US"/>
              <a:t>Click to edit Master title style</a:t>
            </a:r>
          </a:p>
        </p:txBody>
      </p:sp>
      <p:sp>
        <p:nvSpPr>
          <p:cNvPr id="3" name="Subtitle 2"/>
          <p:cNvSpPr>
            <a:spLocks noGrp="1"/>
          </p:cNvSpPr>
          <p:nvPr>
            <p:ph type="subTitle" idx="1"/>
          </p:nvPr>
        </p:nvSpPr>
        <p:spPr>
          <a:xfrm>
            <a:off x="1028700" y="2914650"/>
            <a:ext cx="48006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7320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0523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3305176"/>
            <a:ext cx="58293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180035"/>
            <a:ext cx="58293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9607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2184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151335"/>
            <a:ext cx="303014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1631156"/>
            <a:ext cx="303014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151335"/>
            <a:ext cx="303133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1631156"/>
            <a:ext cx="303133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9441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4529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6263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04787"/>
            <a:ext cx="2256235"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04788"/>
            <a:ext cx="383381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076326"/>
            <a:ext cx="2256235"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138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3600450"/>
            <a:ext cx="41148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459581"/>
            <a:ext cx="41148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4025503"/>
            <a:ext cx="41148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7302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1979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05979"/>
            <a:ext cx="154305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05979"/>
            <a:ext cx="451485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87541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05978"/>
            <a:ext cx="61722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200151"/>
            <a:ext cx="61722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4767263"/>
            <a:ext cx="16002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2343150" y="4767263"/>
            <a:ext cx="21717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4767263"/>
            <a:ext cx="16002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9112857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19456"/>
          </a:xfrm>
          <a:prstGeom prst="rect">
            <a:avLst/>
          </a:prstGeom>
          <a:noFill/>
          <a:ln/>
        </p:spPr>
        <p:txBody>
          <a:bodyPr wrap="square" rtlCol="0" anchor="ctr"/>
          <a:lstStyle/>
          <a:p>
            <a:pPr marL="0" indent="0">
              <a:buNone/>
            </a:pPr>
            <a:r>
              <a:rPr lang="en-US" sz="800" kern="0" spc="300" dirty="0">
                <a:solidFill>
                  <a:schemeClr val="bg2"/>
                </a:solidFill>
                <a:latin typeface="Calibri" pitchFamily="34" charset="0"/>
                <a:ea typeface="Calibri" pitchFamily="34" charset="-122"/>
                <a:cs typeface="Calibri" pitchFamily="34" charset="-120"/>
              </a:rPr>
              <a:t>OPENSEARCHCON 2026  ·  OPERATIONS &amp; OBSERVABILITY  ·  30 MIN</a:t>
            </a:r>
            <a:endParaRPr lang="en-US" sz="800" dirty="0">
              <a:solidFill>
                <a:schemeClr val="bg2"/>
              </a:solidFill>
            </a:endParaRPr>
          </a:p>
        </p:txBody>
      </p:sp>
      <p:sp>
        <p:nvSpPr>
          <p:cNvPr id="3" name="Text 1"/>
          <p:cNvSpPr txBox="1"/>
          <p:nvPr/>
        </p:nvSpPr>
        <p:spPr>
          <a:xfrm>
            <a:off x="548640" y="987552"/>
            <a:ext cx="3657600" cy="256032"/>
          </a:xfrm>
          <a:prstGeom prst="rect">
            <a:avLst/>
          </a:prstGeom>
          <a:noFill/>
          <a:ln/>
        </p:spPr>
        <p:txBody>
          <a:bodyPr wrap="square" rtlCol="0" anchor="ctr"/>
          <a:lstStyle/>
          <a:p>
            <a:pPr marL="0" indent="0">
              <a:buNone/>
            </a:pPr>
            <a:r>
              <a:rPr lang="en-US" sz="900" kern="0" spc="800" dirty="0">
                <a:solidFill>
                  <a:schemeClr val="bg2"/>
                </a:solidFill>
                <a:latin typeface="Calibri" pitchFamily="34" charset="0"/>
                <a:ea typeface="Calibri" pitchFamily="34" charset="-122"/>
                <a:cs typeface="Calibri" pitchFamily="34" charset="-120"/>
              </a:rPr>
              <a:t>FROM</a:t>
            </a:r>
            <a:endParaRPr lang="en-US" sz="900" dirty="0">
              <a:solidFill>
                <a:schemeClr val="bg2"/>
              </a:solidFill>
            </a:endParaRPr>
          </a:p>
        </p:txBody>
      </p:sp>
      <p:sp>
        <p:nvSpPr>
          <p:cNvPr id="4" name="Text 2"/>
          <p:cNvSpPr txBox="1"/>
          <p:nvPr/>
        </p:nvSpPr>
        <p:spPr>
          <a:xfrm>
            <a:off x="502920" y="1207008"/>
            <a:ext cx="4206240" cy="1188720"/>
          </a:xfrm>
          <a:prstGeom prst="rect">
            <a:avLst/>
          </a:prstGeom>
          <a:noFill/>
          <a:ln/>
        </p:spPr>
        <p:txBody>
          <a:bodyPr wrap="square" lIns="0" tIns="0" rIns="0" bIns="0" rtlCol="0" anchor="ctr"/>
          <a:lstStyle/>
          <a:p>
            <a:pPr marL="0" indent="0">
              <a:buNone/>
            </a:pPr>
            <a:r>
              <a:rPr lang="en-US" sz="8000" b="1" dirty="0">
                <a:solidFill>
                  <a:srgbClr val="FF6130"/>
                </a:solidFill>
                <a:latin typeface="Cambria" pitchFamily="34" charset="0"/>
                <a:ea typeface="Cambria" pitchFamily="34" charset="-122"/>
                <a:cs typeface="Cambria" pitchFamily="34" charset="-120"/>
              </a:rPr>
              <a:t>ALERT</a:t>
            </a:r>
            <a:endParaRPr lang="en-US" sz="8000" dirty="0"/>
          </a:p>
        </p:txBody>
      </p:sp>
      <p:sp>
        <p:nvSpPr>
          <p:cNvPr id="5" name="Text 3"/>
          <p:cNvSpPr txBox="1"/>
          <p:nvPr/>
        </p:nvSpPr>
        <p:spPr>
          <a:xfrm>
            <a:off x="4069080" y="1508760"/>
            <a:ext cx="1005840" cy="777240"/>
          </a:xfrm>
          <a:prstGeom prst="rect">
            <a:avLst/>
          </a:prstGeom>
          <a:noFill/>
          <a:ln/>
        </p:spPr>
        <p:txBody>
          <a:bodyPr wrap="square" lIns="0" tIns="0" rIns="0" bIns="0" rtlCol="0" anchor="ctr"/>
          <a:lstStyle/>
          <a:p>
            <a:pPr marL="0" indent="0" algn="ctr">
              <a:buNone/>
            </a:pPr>
            <a:r>
              <a:rPr lang="en-US" sz="3800" dirty="0">
                <a:solidFill>
                  <a:srgbClr val="2A3D58"/>
                </a:solidFill>
                <a:latin typeface="Calibri" pitchFamily="34" charset="0"/>
                <a:ea typeface="Calibri" pitchFamily="34" charset="-122"/>
                <a:cs typeface="Calibri" pitchFamily="34" charset="-120"/>
              </a:rPr>
              <a:t>→</a:t>
            </a:r>
            <a:endParaRPr lang="en-US" sz="3800" dirty="0"/>
          </a:p>
        </p:txBody>
      </p:sp>
      <p:sp>
        <p:nvSpPr>
          <p:cNvPr id="6" name="Text 4"/>
          <p:cNvSpPr txBox="1"/>
          <p:nvPr/>
        </p:nvSpPr>
        <p:spPr>
          <a:xfrm>
            <a:off x="5029200" y="987552"/>
            <a:ext cx="3657600" cy="256032"/>
          </a:xfrm>
          <a:prstGeom prst="rect">
            <a:avLst/>
          </a:prstGeom>
          <a:noFill/>
          <a:ln/>
        </p:spPr>
        <p:txBody>
          <a:bodyPr wrap="square" rtlCol="0" anchor="ctr"/>
          <a:lstStyle/>
          <a:p>
            <a:pPr marL="0" indent="0">
              <a:buNone/>
            </a:pPr>
            <a:r>
              <a:rPr lang="en-US" sz="900" kern="0" spc="800" dirty="0">
                <a:solidFill>
                  <a:schemeClr val="bg2"/>
                </a:solidFill>
                <a:latin typeface="Calibri" pitchFamily="34" charset="0"/>
                <a:ea typeface="Calibri" pitchFamily="34" charset="-122"/>
                <a:cs typeface="Calibri" pitchFamily="34" charset="-120"/>
              </a:rPr>
              <a:t>TO</a:t>
            </a:r>
            <a:endParaRPr lang="en-US" sz="900" dirty="0">
              <a:solidFill>
                <a:schemeClr val="bg2"/>
              </a:solidFill>
            </a:endParaRPr>
          </a:p>
        </p:txBody>
      </p:sp>
      <p:sp>
        <p:nvSpPr>
          <p:cNvPr id="7" name="Text 5"/>
          <p:cNvSpPr txBox="1"/>
          <p:nvPr/>
        </p:nvSpPr>
        <p:spPr>
          <a:xfrm>
            <a:off x="5029200" y="1207008"/>
            <a:ext cx="3840480" cy="1188720"/>
          </a:xfrm>
          <a:prstGeom prst="rect">
            <a:avLst/>
          </a:prstGeom>
          <a:noFill/>
          <a:ln/>
        </p:spPr>
        <p:txBody>
          <a:bodyPr wrap="square" lIns="0" tIns="0" rIns="0" bIns="0" rtlCol="0" anchor="ctr"/>
          <a:lstStyle/>
          <a:p>
            <a:pPr marL="0" indent="0">
              <a:buNone/>
            </a:pPr>
            <a:r>
              <a:rPr lang="en-US" sz="6400" b="1" dirty="0">
                <a:solidFill>
                  <a:srgbClr val="00C8A0"/>
                </a:solidFill>
                <a:latin typeface="Cambria" pitchFamily="34" charset="0"/>
                <a:ea typeface="Cambria" pitchFamily="34" charset="-122"/>
                <a:cs typeface="Cambria" pitchFamily="34" charset="-120"/>
              </a:rPr>
              <a:t>ANSWER</a:t>
            </a:r>
            <a:endParaRPr lang="en-US" sz="6400" dirty="0"/>
          </a:p>
        </p:txBody>
      </p:sp>
      <p:sp>
        <p:nvSpPr>
          <p:cNvPr id="8" name="Shape 6"/>
          <p:cNvSpPr/>
          <p:nvPr/>
        </p:nvSpPr>
        <p:spPr>
          <a:xfrm>
            <a:off x="548640" y="2743200"/>
            <a:ext cx="8046720" cy="0"/>
          </a:xfrm>
          <a:prstGeom prst="line">
            <a:avLst/>
          </a:prstGeom>
          <a:noFill/>
          <a:ln w="7620">
            <a:solidFill>
              <a:srgbClr val="2A3D58"/>
            </a:solidFill>
            <a:prstDash val="solid"/>
          </a:ln>
        </p:spPr>
        <p:txBody>
          <a:bodyPr/>
          <a:lstStyle/>
          <a:p>
            <a:endParaRPr lang="en-US"/>
          </a:p>
        </p:txBody>
      </p:sp>
      <p:sp>
        <p:nvSpPr>
          <p:cNvPr id="9" name="Text 7"/>
          <p:cNvSpPr txBox="1"/>
          <p:nvPr/>
        </p:nvSpPr>
        <p:spPr>
          <a:xfrm>
            <a:off x="548640" y="2834640"/>
            <a:ext cx="8229600" cy="411480"/>
          </a:xfrm>
          <a:prstGeom prst="rect">
            <a:avLst/>
          </a:prstGeom>
          <a:noFill/>
          <a:ln/>
        </p:spPr>
        <p:txBody>
          <a:bodyPr wrap="square" lIns="0" tIns="0" rIns="0" bIns="0" rtlCol="0" anchor="ctr"/>
          <a:lstStyle/>
          <a:p>
            <a:pPr marL="0" indent="0">
              <a:buNone/>
            </a:pPr>
            <a:r>
              <a:rPr lang="en-US" sz="1500" dirty="0">
                <a:solidFill>
                  <a:srgbClr val="8BA3C7"/>
                </a:solidFill>
                <a:latin typeface="Calibri" pitchFamily="34" charset="0"/>
                <a:ea typeface="Calibri" pitchFamily="34" charset="-122"/>
                <a:cs typeface="Calibri" pitchFamily="34" charset="-120"/>
              </a:rPr>
              <a:t>Accelerating Anomaly Investigation with OpenSearch Agent Skills</a:t>
            </a:r>
            <a:endParaRPr lang="en-US" sz="1500" dirty="0"/>
          </a:p>
        </p:txBody>
      </p:sp>
      <p:sp>
        <p:nvSpPr>
          <p:cNvPr id="10" name="Text 8"/>
          <p:cNvSpPr txBox="1"/>
          <p:nvPr/>
        </p:nvSpPr>
        <p:spPr>
          <a:xfrm>
            <a:off x="548640" y="3364992"/>
            <a:ext cx="7772400" cy="365760"/>
          </a:xfrm>
          <a:prstGeom prst="rect">
            <a:avLst/>
          </a:prstGeom>
          <a:noFill/>
          <a:ln/>
        </p:spPr>
        <p:txBody>
          <a:bodyPr wrap="square" lIns="0" tIns="0" rIns="0" bIns="0" rtlCol="0" anchor="ctr"/>
          <a:lstStyle/>
          <a:p>
            <a:pPr marL="0" indent="0">
              <a:buNone/>
            </a:pPr>
            <a:r>
              <a:rPr lang="en-US" sz="1100" i="1" dirty="0">
                <a:solidFill>
                  <a:srgbClr val="2A3D58"/>
                </a:solidFill>
                <a:latin typeface="Calibri" pitchFamily="34" charset="0"/>
                <a:ea typeface="Calibri" pitchFamily="34" charset="-122"/>
                <a:cs typeface="Calibri" pitchFamily="34" charset="-120"/>
              </a:rPr>
              <a:t>The detector finds the signal. This talk is about what happens next.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01168"/>
          </a:xfrm>
          <a:prstGeom prst="rect">
            <a:avLst/>
          </a:prstGeom>
          <a:noFill/>
          <a:ln/>
        </p:spPr>
        <p:txBody>
          <a:bodyPr wrap="square" rtlCol="0" anchor="ctr"/>
          <a:lstStyle/>
          <a:p>
            <a:pPr marL="0" indent="0">
              <a:buNone/>
            </a:pPr>
            <a:r>
              <a:rPr lang="en-US" sz="800" b="1" kern="0" spc="500" dirty="0">
                <a:solidFill>
                  <a:schemeClr val="tx2"/>
                </a:solidFill>
                <a:latin typeface="Calibri" pitchFamily="34" charset="0"/>
                <a:ea typeface="Calibri" pitchFamily="34" charset="-122"/>
                <a:cs typeface="Calibri" pitchFamily="34" charset="-120"/>
              </a:rPr>
              <a:t>THE PROBLEM</a:t>
            </a:r>
            <a:endParaRPr lang="en-US" sz="800" b="1" dirty="0">
              <a:solidFill>
                <a:schemeClr val="tx2"/>
              </a:solidFill>
            </a:endParaRPr>
          </a:p>
        </p:txBody>
      </p:sp>
      <p:sp>
        <p:nvSpPr>
          <p:cNvPr id="3" name="Text 1"/>
          <p:cNvSpPr txBox="1"/>
          <p:nvPr/>
        </p:nvSpPr>
        <p:spPr>
          <a:xfrm>
            <a:off x="548640" y="612648"/>
            <a:ext cx="8321040" cy="914400"/>
          </a:xfrm>
          <a:prstGeom prst="rect">
            <a:avLst/>
          </a:prstGeom>
          <a:noFill/>
          <a:ln/>
        </p:spPr>
        <p:txBody>
          <a:bodyPr wrap="square" lIns="0" tIns="0" rIns="0" bIns="0" rtlCol="0" anchor="ctr"/>
          <a:lstStyle/>
          <a:p>
            <a:pPr marL="0" indent="0">
              <a:buNone/>
            </a:pPr>
            <a:r>
              <a:rPr lang="en-US" sz="2600" b="1" dirty="0">
                <a:solidFill>
                  <a:srgbClr val="DDE7F7"/>
                </a:solidFill>
                <a:latin typeface="Cambria" pitchFamily="34" charset="0"/>
                <a:ea typeface="Cambria" pitchFamily="34" charset="-122"/>
                <a:cs typeface="Cambria" pitchFamily="34" charset="-120"/>
              </a:rPr>
              <a:t>Detection lag is solved.</a:t>
            </a:r>
            <a:endParaRPr lang="en-US" sz="2600" dirty="0"/>
          </a:p>
          <a:p>
            <a:pPr marL="0" indent="0">
              <a:buNone/>
            </a:pPr>
            <a:r>
              <a:rPr lang="en-US" sz="2600" b="1" dirty="0">
                <a:solidFill>
                  <a:srgbClr val="DDE7F7"/>
                </a:solidFill>
                <a:latin typeface="Cambria" pitchFamily="34" charset="0"/>
                <a:ea typeface="Cambria" pitchFamily="34" charset="-122"/>
                <a:cs typeface="Cambria" pitchFamily="34" charset="-120"/>
              </a:rPr>
              <a:t>Investigation lag isn't.</a:t>
            </a:r>
            <a:endParaRPr lang="en-US" sz="2600" dirty="0"/>
          </a:p>
        </p:txBody>
      </p:sp>
      <p:sp>
        <p:nvSpPr>
          <p:cNvPr id="4" name="Text 2"/>
          <p:cNvSpPr txBox="1"/>
          <p:nvPr/>
        </p:nvSpPr>
        <p:spPr>
          <a:xfrm>
            <a:off x="502920" y="1755648"/>
            <a:ext cx="4572000" cy="1188720"/>
          </a:xfrm>
          <a:prstGeom prst="rect">
            <a:avLst/>
          </a:prstGeom>
          <a:noFill/>
          <a:ln/>
        </p:spPr>
        <p:txBody>
          <a:bodyPr wrap="square" lIns="0" tIns="0" rIns="0" bIns="0" rtlCol="0" anchor="ctr"/>
          <a:lstStyle/>
          <a:p>
            <a:pPr marL="0" indent="0">
              <a:buNone/>
            </a:pPr>
            <a:r>
              <a:rPr lang="en-US" sz="8200" b="1" dirty="0">
                <a:solidFill>
                  <a:srgbClr val="FF6130"/>
                </a:solidFill>
                <a:latin typeface="Cambria" pitchFamily="34" charset="0"/>
                <a:ea typeface="Cambria" pitchFamily="34" charset="-122"/>
                <a:cs typeface="Cambria" pitchFamily="34" charset="-120"/>
              </a:rPr>
              <a:t>~20 min</a:t>
            </a:r>
            <a:endParaRPr lang="en-US" sz="8200" dirty="0"/>
          </a:p>
        </p:txBody>
      </p:sp>
      <p:sp>
        <p:nvSpPr>
          <p:cNvPr id="5" name="Text 3"/>
          <p:cNvSpPr txBox="1"/>
          <p:nvPr/>
        </p:nvSpPr>
        <p:spPr>
          <a:xfrm>
            <a:off x="548640" y="2999232"/>
            <a:ext cx="5029200" cy="502920"/>
          </a:xfrm>
          <a:prstGeom prst="rect">
            <a:avLst/>
          </a:prstGeom>
          <a:noFill/>
          <a:ln/>
        </p:spPr>
        <p:txBody>
          <a:bodyPr wrap="square" lIns="0" tIns="0" rIns="0" bIns="0" rtlCol="0" anchor="ctr"/>
          <a:lstStyle/>
          <a:p>
            <a:pPr marL="0" indent="0">
              <a:buNone/>
            </a:pPr>
            <a:r>
              <a:rPr lang="en-US" sz="1200" dirty="0">
                <a:solidFill>
                  <a:srgbClr val="8BA3C7"/>
                </a:solidFill>
                <a:latin typeface="Calibri" pitchFamily="34" charset="0"/>
                <a:ea typeface="Calibri" pitchFamily="34" charset="-122"/>
                <a:cs typeface="Calibri" pitchFamily="34" charset="-120"/>
              </a:rPr>
              <a:t>average time from alert to hypothesis</a:t>
            </a:r>
            <a:endParaRPr lang="en-US" sz="1200" dirty="0"/>
          </a:p>
          <a:p>
            <a:pPr marL="0" indent="0">
              <a:buNone/>
            </a:pPr>
            <a:r>
              <a:rPr lang="en-US" sz="1200" dirty="0">
                <a:solidFill>
                  <a:srgbClr val="8BA3C7"/>
                </a:solidFill>
                <a:latin typeface="Calibri" pitchFamily="34" charset="0"/>
                <a:ea typeface="Calibri" pitchFamily="34" charset="-122"/>
                <a:cs typeface="Calibri" pitchFamily="34" charset="-120"/>
              </a:rPr>
              <a:t>for an on-call SRE</a:t>
            </a:r>
            <a:endParaRPr lang="en-US" sz="1200" dirty="0"/>
          </a:p>
        </p:txBody>
      </p:sp>
      <p:sp>
        <p:nvSpPr>
          <p:cNvPr id="6" name="Text 4"/>
          <p:cNvSpPr txBox="1"/>
          <p:nvPr/>
        </p:nvSpPr>
        <p:spPr>
          <a:xfrm>
            <a:off x="5394960" y="1755648"/>
            <a:ext cx="3566160" cy="1828800"/>
          </a:xfrm>
          <a:prstGeom prst="rect">
            <a:avLst/>
          </a:prstGeom>
          <a:noFill/>
          <a:ln/>
        </p:spPr>
        <p:txBody>
          <a:bodyPr wrap="square" lIns="0" tIns="0" rIns="0" bIns="0" rtlCol="0" anchor="ctr"/>
          <a:lstStyle/>
          <a:p>
            <a:pPr marL="0" indent="0">
              <a:buNone/>
            </a:pPr>
            <a:r>
              <a:rPr lang="en-US" sz="1200" dirty="0">
                <a:solidFill>
                  <a:srgbClr val="8BA3C7"/>
                </a:solidFill>
                <a:latin typeface="Calibri" pitchFamily="34" charset="0"/>
                <a:ea typeface="Calibri" pitchFamily="34" charset="-122"/>
                <a:cs typeface="Calibri" pitchFamily="34" charset="-120"/>
              </a:rPr>
              <a:t>The anomaly detector fires in milliseconds. The SRE then spends 20 minutes correlating logs, cross-referencing metrics, and scanning deploy history before knowing where to look.</a:t>
            </a:r>
            <a:endParaRPr lang="en-US" sz="1200" dirty="0"/>
          </a:p>
          <a:p>
            <a:pPr marL="0" indent="0">
              <a:buNone/>
            </a:pPr>
            <a:endParaRPr lang="en-US" sz="1200" dirty="0"/>
          </a:p>
          <a:p>
            <a:pPr marL="0" indent="0">
              <a:buNone/>
            </a:pPr>
            <a:r>
              <a:rPr lang="en-US" sz="1200" dirty="0">
                <a:solidFill>
                  <a:srgbClr val="8BA3C7"/>
                </a:solidFill>
                <a:latin typeface="Calibri" pitchFamily="34" charset="0"/>
                <a:ea typeface="Calibri" pitchFamily="34" charset="-122"/>
                <a:cs typeface="Calibri" pitchFamily="34" charset="-120"/>
              </a:rPr>
              <a:t>That gap is the problem.</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500"/>
                            </p:stCondLst>
                            <p:childTnLst>
                              <p:par>
                                <p:cTn id="17" presetID="10" presetClass="entr" presetSubtype="0" fill="hold" grpId="0" nodeType="afterEffect">
                                  <p:stCondLst>
                                    <p:cond delay="20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01168"/>
          </a:xfrm>
          <a:prstGeom prst="rect">
            <a:avLst/>
          </a:prstGeom>
          <a:noFill/>
          <a:ln/>
        </p:spPr>
        <p:txBody>
          <a:bodyPr wrap="square" rtlCol="0" anchor="ctr"/>
          <a:lstStyle/>
          <a:p>
            <a:pPr marL="0" indent="0">
              <a:buNone/>
            </a:pPr>
            <a:r>
              <a:rPr lang="en-US" sz="800" kern="0" spc="500" dirty="0">
                <a:solidFill>
                  <a:schemeClr val="tx2"/>
                </a:solidFill>
                <a:latin typeface="Calibri" pitchFamily="34" charset="0"/>
                <a:ea typeface="Calibri" pitchFamily="34" charset="-122"/>
                <a:cs typeface="Calibri" pitchFamily="34" charset="-120"/>
              </a:rPr>
              <a:t>THE GAP</a:t>
            </a:r>
            <a:endParaRPr lang="en-US" sz="800" dirty="0">
              <a:solidFill>
                <a:schemeClr val="tx2"/>
              </a:solidFill>
            </a:endParaRPr>
          </a:p>
        </p:txBody>
      </p:sp>
      <p:sp>
        <p:nvSpPr>
          <p:cNvPr id="3" name="Text 1"/>
          <p:cNvSpPr txBox="1"/>
          <p:nvPr/>
        </p:nvSpPr>
        <p:spPr>
          <a:xfrm>
            <a:off x="548640" y="612648"/>
            <a:ext cx="8321040" cy="914400"/>
          </a:xfrm>
          <a:prstGeom prst="rect">
            <a:avLst/>
          </a:prstGeom>
          <a:noFill/>
          <a:ln/>
        </p:spPr>
        <p:txBody>
          <a:bodyPr wrap="square" lIns="0" tIns="0" rIns="0" bIns="0" rtlCol="0" anchor="ctr"/>
          <a:lstStyle/>
          <a:p>
            <a:pPr marL="0" indent="0">
              <a:buNone/>
            </a:pPr>
            <a:r>
              <a:rPr lang="en-US" sz="2400" b="1" dirty="0">
                <a:solidFill>
                  <a:srgbClr val="DDE7F7"/>
                </a:solidFill>
                <a:latin typeface="Cambria" pitchFamily="34" charset="0"/>
                <a:ea typeface="Cambria" pitchFamily="34" charset="-122"/>
                <a:cs typeface="Cambria" pitchFamily="34" charset="-120"/>
              </a:rPr>
              <a:t>What happens between the alert and the action.</a:t>
            </a:r>
            <a:endParaRPr lang="en-US" sz="2400" dirty="0"/>
          </a:p>
        </p:txBody>
      </p:sp>
      <p:sp>
        <p:nvSpPr>
          <p:cNvPr id="4" name="Shape 2"/>
          <p:cNvSpPr/>
          <p:nvPr/>
        </p:nvSpPr>
        <p:spPr>
          <a:xfrm>
            <a:off x="1664208" y="1417320"/>
            <a:ext cx="0" cy="3209544"/>
          </a:xfrm>
          <a:prstGeom prst="line">
            <a:avLst/>
          </a:prstGeom>
          <a:noFill/>
          <a:ln w="12700">
            <a:solidFill>
              <a:srgbClr val="2A3D58"/>
            </a:solidFill>
            <a:prstDash val="solid"/>
          </a:ln>
        </p:spPr>
        <p:txBody>
          <a:bodyPr/>
          <a:lstStyle/>
          <a:p>
            <a:endParaRPr lang="en-US"/>
          </a:p>
        </p:txBody>
      </p:sp>
      <p:sp>
        <p:nvSpPr>
          <p:cNvPr id="5" name="Text 3"/>
          <p:cNvSpPr txBox="1"/>
          <p:nvPr/>
        </p:nvSpPr>
        <p:spPr>
          <a:xfrm>
            <a:off x="502920" y="1335024"/>
            <a:ext cx="1097280" cy="237744"/>
          </a:xfrm>
          <a:prstGeom prst="rect">
            <a:avLst/>
          </a:prstGeom>
          <a:noFill/>
          <a:ln/>
        </p:spPr>
        <p:txBody>
          <a:bodyPr wrap="square" lIns="0" tIns="0" rIns="0" bIns="0" rtlCol="0" anchor="ctr"/>
          <a:lstStyle/>
          <a:p>
            <a:pPr marL="0" indent="0" algn="r">
              <a:buNone/>
            </a:pPr>
            <a:r>
              <a:rPr lang="en-US" sz="850" dirty="0">
                <a:solidFill>
                  <a:srgbClr val="8BA3C7"/>
                </a:solidFill>
                <a:latin typeface="Courier New" pitchFamily="34" charset="0"/>
                <a:ea typeface="Courier New" pitchFamily="34" charset="-122"/>
                <a:cs typeface="Courier New" pitchFamily="34" charset="-120"/>
              </a:rPr>
              <a:t>02:14:32</a:t>
            </a:r>
            <a:endParaRPr lang="en-US" sz="850" dirty="0"/>
          </a:p>
        </p:txBody>
      </p:sp>
      <p:sp>
        <p:nvSpPr>
          <p:cNvPr id="6" name="Shape 4"/>
          <p:cNvSpPr/>
          <p:nvPr/>
        </p:nvSpPr>
        <p:spPr>
          <a:xfrm>
            <a:off x="1600200" y="1389888"/>
            <a:ext cx="128016" cy="128016"/>
          </a:xfrm>
          <a:prstGeom prst="ellipse">
            <a:avLst/>
          </a:prstGeom>
          <a:solidFill>
            <a:srgbClr val="FF6130"/>
          </a:solidFill>
          <a:ln w="19050">
            <a:solidFill>
              <a:srgbClr val="080C18"/>
            </a:solidFill>
            <a:prstDash val="solid"/>
          </a:ln>
        </p:spPr>
        <p:txBody>
          <a:bodyPr/>
          <a:lstStyle/>
          <a:p>
            <a:endParaRPr lang="en-US"/>
          </a:p>
        </p:txBody>
      </p:sp>
      <p:sp>
        <p:nvSpPr>
          <p:cNvPr id="7" name="Text 5"/>
          <p:cNvSpPr txBox="1"/>
          <p:nvPr/>
        </p:nvSpPr>
        <p:spPr>
          <a:xfrm>
            <a:off x="1892808" y="1353312"/>
            <a:ext cx="6949440" cy="329184"/>
          </a:xfrm>
          <a:prstGeom prst="rect">
            <a:avLst/>
          </a:prstGeom>
          <a:noFill/>
          <a:ln/>
        </p:spPr>
        <p:txBody>
          <a:bodyPr wrap="square" lIns="0" tIns="0" rIns="0" bIns="0" rtlCol="0" anchor="ctr"/>
          <a:lstStyle/>
          <a:p>
            <a:pPr marL="0" indent="0">
              <a:buNone/>
            </a:pPr>
            <a:r>
              <a:rPr lang="en-US" sz="1050" b="1" dirty="0">
                <a:solidFill>
                  <a:srgbClr val="FF6130"/>
                </a:solidFill>
                <a:latin typeface="Courier New" pitchFamily="34" charset="0"/>
                <a:ea typeface="Courier New" pitchFamily="34" charset="-122"/>
                <a:cs typeface="Courier New" pitchFamily="34" charset="-120"/>
              </a:rPr>
              <a:t>Anomaly detected — grade: 0.89  ·  feature: p99_latency_ms  ·  service: payment-service</a:t>
            </a:r>
            <a:endParaRPr lang="en-US" sz="1050" dirty="0"/>
          </a:p>
        </p:txBody>
      </p:sp>
      <p:sp>
        <p:nvSpPr>
          <p:cNvPr id="8" name="Text 6"/>
          <p:cNvSpPr txBox="1"/>
          <p:nvPr/>
        </p:nvSpPr>
        <p:spPr>
          <a:xfrm>
            <a:off x="502920" y="1819656"/>
            <a:ext cx="1097280" cy="237744"/>
          </a:xfrm>
          <a:prstGeom prst="rect">
            <a:avLst/>
          </a:prstGeom>
          <a:noFill/>
          <a:ln/>
        </p:spPr>
        <p:txBody>
          <a:bodyPr wrap="square" lIns="0" tIns="0" rIns="0" bIns="0" rtlCol="0" anchor="ctr"/>
          <a:lstStyle/>
          <a:p>
            <a:pPr marL="0" indent="0" algn="r">
              <a:buNone/>
            </a:pPr>
            <a:r>
              <a:rPr lang="en-US" sz="850" dirty="0">
                <a:solidFill>
                  <a:srgbClr val="8BA3C7"/>
                </a:solidFill>
                <a:latin typeface="Courier New" pitchFamily="34" charset="0"/>
                <a:ea typeface="Courier New" pitchFamily="34" charset="-122"/>
                <a:cs typeface="Courier New" pitchFamily="34" charset="-120"/>
              </a:rPr>
              <a:t>02:15:00</a:t>
            </a:r>
            <a:endParaRPr lang="en-US" sz="850" dirty="0"/>
          </a:p>
        </p:txBody>
      </p:sp>
      <p:sp>
        <p:nvSpPr>
          <p:cNvPr id="9" name="Shape 7"/>
          <p:cNvSpPr/>
          <p:nvPr/>
        </p:nvSpPr>
        <p:spPr>
          <a:xfrm>
            <a:off x="1600200" y="1874520"/>
            <a:ext cx="128016" cy="128016"/>
          </a:xfrm>
          <a:prstGeom prst="ellipse">
            <a:avLst/>
          </a:prstGeom>
          <a:solidFill>
            <a:srgbClr val="2A3D58"/>
          </a:solidFill>
          <a:ln w="19050">
            <a:solidFill>
              <a:srgbClr val="080C18"/>
            </a:solidFill>
            <a:prstDash val="solid"/>
          </a:ln>
        </p:spPr>
        <p:txBody>
          <a:bodyPr/>
          <a:lstStyle/>
          <a:p>
            <a:endParaRPr lang="en-US"/>
          </a:p>
        </p:txBody>
      </p:sp>
      <p:sp>
        <p:nvSpPr>
          <p:cNvPr id="10" name="Text 8"/>
          <p:cNvSpPr txBox="1"/>
          <p:nvPr/>
        </p:nvSpPr>
        <p:spPr>
          <a:xfrm>
            <a:off x="1892808" y="1837944"/>
            <a:ext cx="6949440" cy="329184"/>
          </a:xfrm>
          <a:prstGeom prst="rect">
            <a:avLst/>
          </a:prstGeom>
          <a:noFill/>
          <a:ln/>
        </p:spPr>
        <p:txBody>
          <a:bodyPr wrap="square" lIns="0" tIns="0" rIns="0" bIns="0" rtlCol="0" anchor="ctr"/>
          <a:lstStyle/>
          <a:p>
            <a:pPr marL="0" indent="0">
              <a:buNone/>
            </a:pPr>
            <a:r>
              <a:rPr lang="en-US" sz="1050" dirty="0">
                <a:solidFill>
                  <a:srgbClr val="DDE7F7"/>
                </a:solidFill>
                <a:latin typeface="Calibri" pitchFamily="34" charset="0"/>
                <a:ea typeface="Calibri" pitchFamily="34" charset="-122"/>
                <a:cs typeface="Calibri" pitchFamily="34" charset="-120"/>
              </a:rPr>
              <a:t>SRE paged, opens dashboard</a:t>
            </a:r>
            <a:endParaRPr lang="en-US" sz="1050" dirty="0"/>
          </a:p>
        </p:txBody>
      </p:sp>
      <p:sp>
        <p:nvSpPr>
          <p:cNvPr id="11" name="Text 9"/>
          <p:cNvSpPr txBox="1"/>
          <p:nvPr/>
        </p:nvSpPr>
        <p:spPr>
          <a:xfrm>
            <a:off x="502920" y="2304288"/>
            <a:ext cx="1097280" cy="237744"/>
          </a:xfrm>
          <a:prstGeom prst="rect">
            <a:avLst/>
          </a:prstGeom>
          <a:noFill/>
          <a:ln/>
        </p:spPr>
        <p:txBody>
          <a:bodyPr wrap="square" lIns="0" tIns="0" rIns="0" bIns="0" rtlCol="0" anchor="ctr"/>
          <a:lstStyle/>
          <a:p>
            <a:pPr marL="0" indent="0" algn="r">
              <a:buNone/>
            </a:pPr>
            <a:r>
              <a:rPr lang="en-US" sz="850" dirty="0">
                <a:solidFill>
                  <a:srgbClr val="8BA3C7"/>
                </a:solidFill>
                <a:latin typeface="Courier New" pitchFamily="34" charset="0"/>
                <a:ea typeface="Courier New" pitchFamily="34" charset="-122"/>
                <a:cs typeface="Courier New" pitchFamily="34" charset="-120"/>
              </a:rPr>
              <a:t>02:17</a:t>
            </a:r>
            <a:endParaRPr lang="en-US" sz="850" dirty="0"/>
          </a:p>
        </p:txBody>
      </p:sp>
      <p:sp>
        <p:nvSpPr>
          <p:cNvPr id="12" name="Shape 10"/>
          <p:cNvSpPr/>
          <p:nvPr/>
        </p:nvSpPr>
        <p:spPr>
          <a:xfrm>
            <a:off x="1600200" y="2359152"/>
            <a:ext cx="128016" cy="128016"/>
          </a:xfrm>
          <a:prstGeom prst="ellipse">
            <a:avLst/>
          </a:prstGeom>
          <a:solidFill>
            <a:srgbClr val="2A3D58"/>
          </a:solidFill>
          <a:ln w="19050">
            <a:solidFill>
              <a:srgbClr val="080C18"/>
            </a:solidFill>
            <a:prstDash val="solid"/>
          </a:ln>
        </p:spPr>
        <p:txBody>
          <a:bodyPr/>
          <a:lstStyle/>
          <a:p>
            <a:endParaRPr lang="en-US"/>
          </a:p>
        </p:txBody>
      </p:sp>
      <p:sp>
        <p:nvSpPr>
          <p:cNvPr id="13" name="Text 11"/>
          <p:cNvSpPr txBox="1"/>
          <p:nvPr/>
        </p:nvSpPr>
        <p:spPr>
          <a:xfrm>
            <a:off x="1892808" y="2322576"/>
            <a:ext cx="6949440" cy="329184"/>
          </a:xfrm>
          <a:prstGeom prst="rect">
            <a:avLst/>
          </a:prstGeom>
          <a:noFill/>
          <a:ln/>
        </p:spPr>
        <p:txBody>
          <a:bodyPr wrap="square" lIns="0" tIns="0" rIns="0" bIns="0" rtlCol="0" anchor="ctr"/>
          <a:lstStyle/>
          <a:p>
            <a:pPr marL="0" indent="0">
              <a:buNone/>
            </a:pPr>
            <a:r>
              <a:rPr lang="en-US" sz="1050" dirty="0">
                <a:solidFill>
                  <a:srgbClr val="DDE7F7"/>
                </a:solidFill>
                <a:latin typeface="Calibri" pitchFamily="34" charset="0"/>
                <a:ea typeface="Calibri" pitchFamily="34" charset="-122"/>
                <a:cs typeface="Calibri" pitchFamily="34" charset="-120"/>
              </a:rPr>
              <a:t>Checks anomaly results, confirms spike is real</a:t>
            </a:r>
            <a:endParaRPr lang="en-US" sz="1050" dirty="0"/>
          </a:p>
        </p:txBody>
      </p:sp>
      <p:sp>
        <p:nvSpPr>
          <p:cNvPr id="14" name="Text 12"/>
          <p:cNvSpPr txBox="1"/>
          <p:nvPr/>
        </p:nvSpPr>
        <p:spPr>
          <a:xfrm>
            <a:off x="502920" y="2788920"/>
            <a:ext cx="1097280" cy="237744"/>
          </a:xfrm>
          <a:prstGeom prst="rect">
            <a:avLst/>
          </a:prstGeom>
          <a:noFill/>
          <a:ln/>
        </p:spPr>
        <p:txBody>
          <a:bodyPr wrap="square" lIns="0" tIns="0" rIns="0" bIns="0" rtlCol="0" anchor="ctr"/>
          <a:lstStyle/>
          <a:p>
            <a:pPr marL="0" indent="0" algn="r">
              <a:buNone/>
            </a:pPr>
            <a:r>
              <a:rPr lang="en-US" sz="850" dirty="0">
                <a:solidFill>
                  <a:srgbClr val="8BA3C7"/>
                </a:solidFill>
                <a:latin typeface="Courier New" pitchFamily="34" charset="0"/>
                <a:ea typeface="Courier New" pitchFamily="34" charset="-122"/>
                <a:cs typeface="Courier New" pitchFamily="34" charset="-120"/>
              </a:rPr>
              <a:t>02:20</a:t>
            </a:r>
            <a:endParaRPr lang="en-US" sz="850" dirty="0"/>
          </a:p>
        </p:txBody>
      </p:sp>
      <p:sp>
        <p:nvSpPr>
          <p:cNvPr id="15" name="Shape 13"/>
          <p:cNvSpPr/>
          <p:nvPr/>
        </p:nvSpPr>
        <p:spPr>
          <a:xfrm>
            <a:off x="1600200" y="2843784"/>
            <a:ext cx="128016" cy="128016"/>
          </a:xfrm>
          <a:prstGeom prst="ellipse">
            <a:avLst/>
          </a:prstGeom>
          <a:solidFill>
            <a:srgbClr val="2A3D58"/>
          </a:solidFill>
          <a:ln w="19050">
            <a:solidFill>
              <a:srgbClr val="080C18"/>
            </a:solidFill>
            <a:prstDash val="solid"/>
          </a:ln>
        </p:spPr>
        <p:txBody>
          <a:bodyPr/>
          <a:lstStyle/>
          <a:p>
            <a:endParaRPr lang="en-US"/>
          </a:p>
        </p:txBody>
      </p:sp>
      <p:sp>
        <p:nvSpPr>
          <p:cNvPr id="16" name="Text 14"/>
          <p:cNvSpPr txBox="1"/>
          <p:nvPr/>
        </p:nvSpPr>
        <p:spPr>
          <a:xfrm>
            <a:off x="1892808" y="2807208"/>
            <a:ext cx="6949440" cy="329184"/>
          </a:xfrm>
          <a:prstGeom prst="rect">
            <a:avLst/>
          </a:prstGeom>
          <a:noFill/>
          <a:ln/>
        </p:spPr>
        <p:txBody>
          <a:bodyPr wrap="square" lIns="0" tIns="0" rIns="0" bIns="0" rtlCol="0" anchor="ctr"/>
          <a:lstStyle/>
          <a:p>
            <a:pPr marL="0" indent="0">
              <a:buNone/>
            </a:pPr>
            <a:r>
              <a:rPr lang="en-US" sz="1050" dirty="0">
                <a:solidFill>
                  <a:srgbClr val="DDE7F7"/>
                </a:solidFill>
                <a:latin typeface="Calibri" pitchFamily="34" charset="0"/>
                <a:ea typeface="Calibri" pitchFamily="34" charset="-122"/>
                <a:cs typeface="Calibri" pitchFamily="34" charset="-120"/>
              </a:rPr>
              <a:t>Correlates error logs in prod-logs index  (manual Discover query)</a:t>
            </a:r>
            <a:endParaRPr lang="en-US" sz="1050" dirty="0"/>
          </a:p>
        </p:txBody>
      </p:sp>
      <p:sp>
        <p:nvSpPr>
          <p:cNvPr id="17" name="Text 15"/>
          <p:cNvSpPr txBox="1"/>
          <p:nvPr/>
        </p:nvSpPr>
        <p:spPr>
          <a:xfrm>
            <a:off x="502920" y="3273552"/>
            <a:ext cx="1097280" cy="237744"/>
          </a:xfrm>
          <a:prstGeom prst="rect">
            <a:avLst/>
          </a:prstGeom>
          <a:noFill/>
          <a:ln/>
        </p:spPr>
        <p:txBody>
          <a:bodyPr wrap="square" lIns="0" tIns="0" rIns="0" bIns="0" rtlCol="0" anchor="ctr"/>
          <a:lstStyle/>
          <a:p>
            <a:pPr marL="0" indent="0" algn="r">
              <a:buNone/>
            </a:pPr>
            <a:r>
              <a:rPr lang="en-US" sz="850" dirty="0">
                <a:solidFill>
                  <a:srgbClr val="8BA3C7"/>
                </a:solidFill>
                <a:latin typeface="Courier New" pitchFamily="34" charset="0"/>
                <a:ea typeface="Courier New" pitchFamily="34" charset="-122"/>
                <a:cs typeface="Courier New" pitchFamily="34" charset="-120"/>
              </a:rPr>
              <a:t>02:26</a:t>
            </a:r>
            <a:endParaRPr lang="en-US" sz="850" dirty="0"/>
          </a:p>
        </p:txBody>
      </p:sp>
      <p:sp>
        <p:nvSpPr>
          <p:cNvPr id="18" name="Shape 16"/>
          <p:cNvSpPr/>
          <p:nvPr/>
        </p:nvSpPr>
        <p:spPr>
          <a:xfrm>
            <a:off x="1600200" y="3328416"/>
            <a:ext cx="128016" cy="128016"/>
          </a:xfrm>
          <a:prstGeom prst="ellipse">
            <a:avLst/>
          </a:prstGeom>
          <a:solidFill>
            <a:srgbClr val="2A3D58"/>
          </a:solidFill>
          <a:ln w="19050">
            <a:solidFill>
              <a:srgbClr val="080C18"/>
            </a:solidFill>
            <a:prstDash val="solid"/>
          </a:ln>
        </p:spPr>
        <p:txBody>
          <a:bodyPr/>
          <a:lstStyle/>
          <a:p>
            <a:endParaRPr lang="en-US"/>
          </a:p>
        </p:txBody>
      </p:sp>
      <p:sp>
        <p:nvSpPr>
          <p:cNvPr id="19" name="Text 17"/>
          <p:cNvSpPr txBox="1"/>
          <p:nvPr/>
        </p:nvSpPr>
        <p:spPr>
          <a:xfrm>
            <a:off x="1892808" y="3291840"/>
            <a:ext cx="6949440" cy="329184"/>
          </a:xfrm>
          <a:prstGeom prst="rect">
            <a:avLst/>
          </a:prstGeom>
          <a:noFill/>
          <a:ln/>
        </p:spPr>
        <p:txBody>
          <a:bodyPr wrap="square" lIns="0" tIns="0" rIns="0" bIns="0" rtlCol="0" anchor="ctr"/>
          <a:lstStyle/>
          <a:p>
            <a:pPr marL="0" indent="0">
              <a:buNone/>
            </a:pPr>
            <a:r>
              <a:rPr lang="en-US" sz="1050" dirty="0">
                <a:solidFill>
                  <a:srgbClr val="DDE7F7"/>
                </a:solidFill>
                <a:latin typeface="Calibri" pitchFamily="34" charset="0"/>
                <a:ea typeface="Calibri" pitchFamily="34" charset="-122"/>
                <a:cs typeface="Calibri" pitchFamily="34" charset="-120"/>
              </a:rPr>
              <a:t>Checks deploy-events for recent changes</a:t>
            </a:r>
            <a:endParaRPr lang="en-US" sz="1050" dirty="0"/>
          </a:p>
        </p:txBody>
      </p:sp>
      <p:sp>
        <p:nvSpPr>
          <p:cNvPr id="20" name="Text 18"/>
          <p:cNvSpPr txBox="1"/>
          <p:nvPr/>
        </p:nvSpPr>
        <p:spPr>
          <a:xfrm>
            <a:off x="502920" y="3758184"/>
            <a:ext cx="1097280" cy="237744"/>
          </a:xfrm>
          <a:prstGeom prst="rect">
            <a:avLst/>
          </a:prstGeom>
          <a:noFill/>
          <a:ln/>
        </p:spPr>
        <p:txBody>
          <a:bodyPr wrap="square" lIns="0" tIns="0" rIns="0" bIns="0" rtlCol="0" anchor="ctr"/>
          <a:lstStyle/>
          <a:p>
            <a:pPr marL="0" indent="0" algn="r">
              <a:buNone/>
            </a:pPr>
            <a:r>
              <a:rPr lang="en-US" sz="850" dirty="0">
                <a:solidFill>
                  <a:srgbClr val="8BA3C7"/>
                </a:solidFill>
                <a:latin typeface="Courier New" pitchFamily="34" charset="0"/>
                <a:ea typeface="Courier New" pitchFamily="34" charset="-122"/>
                <a:cs typeface="Courier New" pitchFamily="34" charset="-120"/>
              </a:rPr>
              <a:t>02:31</a:t>
            </a:r>
            <a:endParaRPr lang="en-US" sz="850" dirty="0"/>
          </a:p>
        </p:txBody>
      </p:sp>
      <p:sp>
        <p:nvSpPr>
          <p:cNvPr id="21" name="Shape 19"/>
          <p:cNvSpPr/>
          <p:nvPr/>
        </p:nvSpPr>
        <p:spPr>
          <a:xfrm>
            <a:off x="1600200" y="3813048"/>
            <a:ext cx="128016" cy="128016"/>
          </a:xfrm>
          <a:prstGeom prst="ellipse">
            <a:avLst/>
          </a:prstGeom>
          <a:solidFill>
            <a:srgbClr val="2A3D58"/>
          </a:solidFill>
          <a:ln w="19050">
            <a:solidFill>
              <a:srgbClr val="080C18"/>
            </a:solidFill>
            <a:prstDash val="solid"/>
          </a:ln>
        </p:spPr>
        <p:txBody>
          <a:bodyPr/>
          <a:lstStyle/>
          <a:p>
            <a:endParaRPr lang="en-US"/>
          </a:p>
        </p:txBody>
      </p:sp>
      <p:sp>
        <p:nvSpPr>
          <p:cNvPr id="22" name="Text 20"/>
          <p:cNvSpPr txBox="1"/>
          <p:nvPr/>
        </p:nvSpPr>
        <p:spPr>
          <a:xfrm>
            <a:off x="1892808" y="3776472"/>
            <a:ext cx="6949440" cy="329184"/>
          </a:xfrm>
          <a:prstGeom prst="rect">
            <a:avLst/>
          </a:prstGeom>
          <a:noFill/>
          <a:ln/>
        </p:spPr>
        <p:txBody>
          <a:bodyPr wrap="square" lIns="0" tIns="0" rIns="0" bIns="0" rtlCol="0" anchor="ctr"/>
          <a:lstStyle/>
          <a:p>
            <a:pPr marL="0" indent="0">
              <a:buNone/>
            </a:pPr>
            <a:r>
              <a:rPr lang="en-US" sz="1050" dirty="0">
                <a:solidFill>
                  <a:srgbClr val="DDE7F7"/>
                </a:solidFill>
                <a:latin typeface="Calibri" pitchFamily="34" charset="0"/>
                <a:ea typeface="Calibri" pitchFamily="34" charset="-122"/>
                <a:cs typeface="Calibri" pitchFamily="34" charset="-120"/>
              </a:rPr>
              <a:t>Identifies log pattern: "database connection pool exhausted"</a:t>
            </a:r>
            <a:endParaRPr lang="en-US" sz="1050" dirty="0"/>
          </a:p>
        </p:txBody>
      </p:sp>
      <p:sp>
        <p:nvSpPr>
          <p:cNvPr id="23" name="Text 21"/>
          <p:cNvSpPr txBox="1"/>
          <p:nvPr/>
        </p:nvSpPr>
        <p:spPr>
          <a:xfrm>
            <a:off x="502920" y="4242816"/>
            <a:ext cx="1097280" cy="237744"/>
          </a:xfrm>
          <a:prstGeom prst="rect">
            <a:avLst/>
          </a:prstGeom>
          <a:noFill/>
          <a:ln/>
        </p:spPr>
        <p:txBody>
          <a:bodyPr wrap="square" lIns="0" tIns="0" rIns="0" bIns="0" rtlCol="0" anchor="ctr"/>
          <a:lstStyle/>
          <a:p>
            <a:pPr marL="0" indent="0" algn="r">
              <a:buNone/>
            </a:pPr>
            <a:r>
              <a:rPr lang="en-US" sz="850" dirty="0">
                <a:solidFill>
                  <a:srgbClr val="8BA3C7"/>
                </a:solidFill>
                <a:latin typeface="Courier New" pitchFamily="34" charset="0"/>
                <a:ea typeface="Courier New" pitchFamily="34" charset="-122"/>
                <a:cs typeface="Courier New" pitchFamily="34" charset="-120"/>
              </a:rPr>
              <a:t>02:34</a:t>
            </a:r>
            <a:endParaRPr lang="en-US" sz="850" dirty="0"/>
          </a:p>
        </p:txBody>
      </p:sp>
      <p:sp>
        <p:nvSpPr>
          <p:cNvPr id="24" name="Shape 22"/>
          <p:cNvSpPr/>
          <p:nvPr/>
        </p:nvSpPr>
        <p:spPr>
          <a:xfrm>
            <a:off x="1600200" y="4297680"/>
            <a:ext cx="128016" cy="128016"/>
          </a:xfrm>
          <a:prstGeom prst="ellipse">
            <a:avLst/>
          </a:prstGeom>
          <a:solidFill>
            <a:srgbClr val="00C8A0"/>
          </a:solidFill>
          <a:ln w="19050">
            <a:solidFill>
              <a:srgbClr val="080C18"/>
            </a:solidFill>
            <a:prstDash val="solid"/>
          </a:ln>
        </p:spPr>
        <p:txBody>
          <a:bodyPr/>
          <a:lstStyle/>
          <a:p>
            <a:endParaRPr lang="en-US"/>
          </a:p>
        </p:txBody>
      </p:sp>
      <p:sp>
        <p:nvSpPr>
          <p:cNvPr id="25" name="Text 23"/>
          <p:cNvSpPr txBox="1"/>
          <p:nvPr/>
        </p:nvSpPr>
        <p:spPr>
          <a:xfrm>
            <a:off x="1892808" y="4261104"/>
            <a:ext cx="6949440" cy="329184"/>
          </a:xfrm>
          <a:prstGeom prst="rect">
            <a:avLst/>
          </a:prstGeom>
          <a:noFill/>
          <a:ln/>
        </p:spPr>
        <p:txBody>
          <a:bodyPr wrap="square" lIns="0" tIns="0" rIns="0" bIns="0" rtlCol="0" anchor="ctr"/>
          <a:lstStyle/>
          <a:p>
            <a:pPr marL="0" indent="0">
              <a:buNone/>
            </a:pPr>
            <a:r>
              <a:rPr lang="en-US" sz="1050" b="1" dirty="0">
                <a:solidFill>
                  <a:srgbClr val="00C8A0"/>
                </a:solidFill>
                <a:latin typeface="Calibri" pitchFamily="34" charset="0"/>
                <a:ea typeface="Calibri" pitchFamily="34" charset="-122"/>
                <a:cs typeface="Calibri" pitchFamily="34" charset="-120"/>
              </a:rPr>
              <a:t>Forms hypothesis, takes action — 20 minutes after detection</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childTnLst>
                          </p:cTn>
                        </p:par>
                        <p:par>
                          <p:cTn id="68" fill="hold">
                            <p:stCondLst>
                              <p:cond delay="500"/>
                            </p:stCondLst>
                            <p:childTnLst>
                              <p:par>
                                <p:cTn id="69" presetID="10" presetClass="entr" presetSubtype="0" fill="hold" grpId="0" nodeType="after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childTnLst>
                          </p:cTn>
                        </p:par>
                        <p:par>
                          <p:cTn id="80" fill="hold">
                            <p:stCondLst>
                              <p:cond delay="500"/>
                            </p:stCondLst>
                            <p:childTnLst>
                              <p:par>
                                <p:cTn id="81" presetID="10" presetClass="entr" presetSubtype="0" fill="hold" grpId="0" nodeType="after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00"/>
                                        <p:tgtEl>
                                          <p:spTgt spid="2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500"/>
                                        <p:tgtEl>
                                          <p:spTgt spid="24"/>
                                        </p:tgtEl>
                                      </p:cBhvr>
                                    </p:animEffect>
                                  </p:childTnLst>
                                </p:cTn>
                              </p:par>
                            </p:childTnLst>
                          </p:cTn>
                        </p:par>
                        <p:par>
                          <p:cTn id="92" fill="hold">
                            <p:stCondLst>
                              <p:cond delay="500"/>
                            </p:stCondLst>
                            <p:childTnLst>
                              <p:par>
                                <p:cTn id="93" presetID="10" presetClass="entr" presetSubtype="0" fill="hold" grpId="0" nodeType="after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fade">
                                      <p:cBhvr>
                                        <p:cTn id="9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01168"/>
          </a:xfrm>
          <a:prstGeom prst="rect">
            <a:avLst/>
          </a:prstGeom>
          <a:noFill/>
          <a:ln/>
        </p:spPr>
        <p:txBody>
          <a:bodyPr wrap="square" rtlCol="0" anchor="ctr"/>
          <a:lstStyle/>
          <a:p>
            <a:pPr marL="0" indent="0">
              <a:buNone/>
            </a:pPr>
            <a:r>
              <a:rPr lang="en-US" sz="800" kern="0" spc="500" dirty="0">
                <a:solidFill>
                  <a:schemeClr val="tx2"/>
                </a:solidFill>
                <a:latin typeface="Calibri" pitchFamily="34" charset="0"/>
                <a:ea typeface="Calibri" pitchFamily="34" charset="-122"/>
                <a:cs typeface="Calibri" pitchFamily="34" charset="-120"/>
              </a:rPr>
              <a:t>WHAT YOU HAVE</a:t>
            </a:r>
            <a:endParaRPr lang="en-US" sz="800" dirty="0">
              <a:solidFill>
                <a:schemeClr val="tx2"/>
              </a:solidFill>
            </a:endParaRPr>
          </a:p>
        </p:txBody>
      </p:sp>
      <p:sp>
        <p:nvSpPr>
          <p:cNvPr id="3" name="Text 1"/>
          <p:cNvSpPr txBox="1"/>
          <p:nvPr/>
        </p:nvSpPr>
        <p:spPr>
          <a:xfrm>
            <a:off x="548640" y="612648"/>
            <a:ext cx="8321040" cy="914400"/>
          </a:xfrm>
          <a:prstGeom prst="rect">
            <a:avLst/>
          </a:prstGeom>
          <a:noFill/>
          <a:ln/>
        </p:spPr>
        <p:txBody>
          <a:bodyPr wrap="square" lIns="0" tIns="0" rIns="0" bIns="0" rtlCol="0" anchor="ctr"/>
          <a:lstStyle/>
          <a:p>
            <a:pPr marL="0" indent="0">
              <a:buNone/>
            </a:pPr>
            <a:r>
              <a:rPr lang="en-US" sz="2600" b="1" dirty="0">
                <a:solidFill>
                  <a:srgbClr val="DDE7F7"/>
                </a:solidFill>
                <a:latin typeface="Cambria" pitchFamily="34" charset="0"/>
                <a:ea typeface="Cambria" pitchFamily="34" charset="-122"/>
                <a:cs typeface="Cambria" pitchFamily="34" charset="-120"/>
              </a:rPr>
              <a:t>OpenSearch knows there's a problem.</a:t>
            </a:r>
            <a:endParaRPr lang="en-US" sz="2600" dirty="0"/>
          </a:p>
        </p:txBody>
      </p:sp>
      <p:sp>
        <p:nvSpPr>
          <p:cNvPr id="4" name="Text 2"/>
          <p:cNvSpPr txBox="1"/>
          <p:nvPr/>
        </p:nvSpPr>
        <p:spPr>
          <a:xfrm>
            <a:off x="548640" y="1371600"/>
            <a:ext cx="4023360" cy="201168"/>
          </a:xfrm>
          <a:prstGeom prst="rect">
            <a:avLst/>
          </a:prstGeom>
          <a:noFill/>
          <a:ln/>
        </p:spPr>
        <p:txBody>
          <a:bodyPr wrap="square" rtlCol="0" anchor="ctr"/>
          <a:lstStyle/>
          <a:p>
            <a:pPr marL="0" indent="0">
              <a:buNone/>
            </a:pPr>
            <a:r>
              <a:rPr lang="en-US" sz="750" kern="0" spc="300" dirty="0">
                <a:solidFill>
                  <a:srgbClr val="00C8A0"/>
                </a:solidFill>
                <a:latin typeface="Calibri" pitchFamily="34" charset="0"/>
                <a:ea typeface="Calibri" pitchFamily="34" charset="-122"/>
                <a:cs typeface="Calibri" pitchFamily="34" charset="-120"/>
              </a:rPr>
              <a:t>WHAT THE DETECTOR RETURNS</a:t>
            </a:r>
            <a:endParaRPr lang="en-US" sz="750" dirty="0"/>
          </a:p>
        </p:txBody>
      </p:sp>
      <p:sp>
        <p:nvSpPr>
          <p:cNvPr id="5" name="Shape 3"/>
          <p:cNvSpPr/>
          <p:nvPr/>
        </p:nvSpPr>
        <p:spPr>
          <a:xfrm>
            <a:off x="548640" y="1600200"/>
            <a:ext cx="3977640" cy="429768"/>
          </a:xfrm>
          <a:prstGeom prst="roundRect">
            <a:avLst>
              <a:gd name="adj" fmla="val 10638"/>
            </a:avLst>
          </a:prstGeom>
          <a:solidFill>
            <a:srgbClr val="0A2020"/>
          </a:solidFill>
          <a:ln w="7620">
            <a:solidFill>
              <a:srgbClr val="1A4035"/>
            </a:solidFill>
            <a:prstDash val="solid"/>
          </a:ln>
        </p:spPr>
        <p:txBody>
          <a:bodyPr/>
          <a:lstStyle/>
          <a:p>
            <a:endParaRPr lang="en-US"/>
          </a:p>
        </p:txBody>
      </p:sp>
      <p:sp>
        <p:nvSpPr>
          <p:cNvPr id="6" name="Text 4"/>
          <p:cNvSpPr txBox="1"/>
          <p:nvPr/>
        </p:nvSpPr>
        <p:spPr>
          <a:xfrm>
            <a:off x="685800" y="1600200"/>
            <a:ext cx="3749040" cy="429768"/>
          </a:xfrm>
          <a:prstGeom prst="rect">
            <a:avLst/>
          </a:prstGeom>
          <a:noFill/>
          <a:ln/>
        </p:spPr>
        <p:txBody>
          <a:bodyPr wrap="square" lIns="0" tIns="0" rIns="0" bIns="0" rtlCol="0" anchor="ctr"/>
          <a:lstStyle/>
          <a:p>
            <a:pPr marL="0" indent="0">
              <a:buNone/>
            </a:pPr>
            <a:r>
              <a:rPr lang="en-US" sz="1100" dirty="0">
                <a:solidFill>
                  <a:srgbClr val="00C8A0"/>
                </a:solidFill>
                <a:latin typeface="Courier New" pitchFamily="34" charset="0"/>
                <a:ea typeface="Courier New" pitchFamily="34" charset="-122"/>
                <a:cs typeface="Courier New" pitchFamily="34" charset="-120"/>
              </a:rPr>
              <a:t>✓  Anomaly score: 0.89</a:t>
            </a:r>
            <a:endParaRPr lang="en-US" sz="1100" dirty="0"/>
          </a:p>
        </p:txBody>
      </p:sp>
      <p:sp>
        <p:nvSpPr>
          <p:cNvPr id="7" name="Shape 5"/>
          <p:cNvSpPr/>
          <p:nvPr/>
        </p:nvSpPr>
        <p:spPr>
          <a:xfrm>
            <a:off x="548640" y="2112264"/>
            <a:ext cx="3977640" cy="429768"/>
          </a:xfrm>
          <a:prstGeom prst="roundRect">
            <a:avLst>
              <a:gd name="adj" fmla="val 10638"/>
            </a:avLst>
          </a:prstGeom>
          <a:solidFill>
            <a:srgbClr val="0A2020"/>
          </a:solidFill>
          <a:ln w="7620">
            <a:solidFill>
              <a:srgbClr val="1A4035"/>
            </a:solidFill>
            <a:prstDash val="solid"/>
          </a:ln>
        </p:spPr>
        <p:txBody>
          <a:bodyPr/>
          <a:lstStyle/>
          <a:p>
            <a:endParaRPr lang="en-US"/>
          </a:p>
        </p:txBody>
      </p:sp>
      <p:sp>
        <p:nvSpPr>
          <p:cNvPr id="8" name="Text 6"/>
          <p:cNvSpPr txBox="1"/>
          <p:nvPr/>
        </p:nvSpPr>
        <p:spPr>
          <a:xfrm>
            <a:off x="685800" y="2112264"/>
            <a:ext cx="3749040" cy="429768"/>
          </a:xfrm>
          <a:prstGeom prst="rect">
            <a:avLst/>
          </a:prstGeom>
          <a:noFill/>
          <a:ln/>
        </p:spPr>
        <p:txBody>
          <a:bodyPr wrap="square" lIns="0" tIns="0" rIns="0" bIns="0" rtlCol="0" anchor="ctr"/>
          <a:lstStyle/>
          <a:p>
            <a:pPr marL="0" indent="0">
              <a:buNone/>
            </a:pPr>
            <a:r>
              <a:rPr lang="en-US" sz="1100" dirty="0">
                <a:solidFill>
                  <a:srgbClr val="00C8A0"/>
                </a:solidFill>
                <a:latin typeface="Courier New" pitchFamily="34" charset="0"/>
                <a:ea typeface="Courier New" pitchFamily="34" charset="-122"/>
                <a:cs typeface="Courier New" pitchFamily="34" charset="-120"/>
              </a:rPr>
              <a:t>✓  Timestamp: 02:14:32 UTC</a:t>
            </a:r>
            <a:endParaRPr lang="en-US" sz="1100" dirty="0"/>
          </a:p>
        </p:txBody>
      </p:sp>
      <p:sp>
        <p:nvSpPr>
          <p:cNvPr id="9" name="Shape 7"/>
          <p:cNvSpPr/>
          <p:nvPr/>
        </p:nvSpPr>
        <p:spPr>
          <a:xfrm>
            <a:off x="548640" y="2624328"/>
            <a:ext cx="3977640" cy="429768"/>
          </a:xfrm>
          <a:prstGeom prst="roundRect">
            <a:avLst>
              <a:gd name="adj" fmla="val 10638"/>
            </a:avLst>
          </a:prstGeom>
          <a:solidFill>
            <a:srgbClr val="0A2020"/>
          </a:solidFill>
          <a:ln w="7620">
            <a:solidFill>
              <a:srgbClr val="1A4035"/>
            </a:solidFill>
            <a:prstDash val="solid"/>
          </a:ln>
        </p:spPr>
        <p:txBody>
          <a:bodyPr/>
          <a:lstStyle/>
          <a:p>
            <a:endParaRPr lang="en-US"/>
          </a:p>
        </p:txBody>
      </p:sp>
      <p:sp>
        <p:nvSpPr>
          <p:cNvPr id="10" name="Text 8"/>
          <p:cNvSpPr txBox="1"/>
          <p:nvPr/>
        </p:nvSpPr>
        <p:spPr>
          <a:xfrm>
            <a:off x="685800" y="2624328"/>
            <a:ext cx="3749040" cy="429768"/>
          </a:xfrm>
          <a:prstGeom prst="rect">
            <a:avLst/>
          </a:prstGeom>
          <a:noFill/>
          <a:ln/>
        </p:spPr>
        <p:txBody>
          <a:bodyPr wrap="square" lIns="0" tIns="0" rIns="0" bIns="0" rtlCol="0" anchor="ctr"/>
          <a:lstStyle/>
          <a:p>
            <a:pPr marL="0" indent="0">
              <a:buNone/>
            </a:pPr>
            <a:r>
              <a:rPr lang="en-US" sz="1100" dirty="0">
                <a:solidFill>
                  <a:srgbClr val="00C8A0"/>
                </a:solidFill>
                <a:latin typeface="Courier New" pitchFamily="34" charset="0"/>
                <a:ea typeface="Courier New" pitchFamily="34" charset="-122"/>
                <a:cs typeface="Courier New" pitchFamily="34" charset="-120"/>
              </a:rPr>
              <a:t>✓  Feature: p99_latency_ms</a:t>
            </a:r>
            <a:endParaRPr lang="en-US" sz="1100" dirty="0"/>
          </a:p>
        </p:txBody>
      </p:sp>
      <p:sp>
        <p:nvSpPr>
          <p:cNvPr id="11" name="Shape 9"/>
          <p:cNvSpPr/>
          <p:nvPr/>
        </p:nvSpPr>
        <p:spPr>
          <a:xfrm>
            <a:off x="548640" y="3136392"/>
            <a:ext cx="3977640" cy="429768"/>
          </a:xfrm>
          <a:prstGeom prst="roundRect">
            <a:avLst>
              <a:gd name="adj" fmla="val 10638"/>
            </a:avLst>
          </a:prstGeom>
          <a:solidFill>
            <a:srgbClr val="0A2020"/>
          </a:solidFill>
          <a:ln w="7620">
            <a:solidFill>
              <a:srgbClr val="1A4035"/>
            </a:solidFill>
            <a:prstDash val="solid"/>
          </a:ln>
        </p:spPr>
        <p:txBody>
          <a:bodyPr/>
          <a:lstStyle/>
          <a:p>
            <a:endParaRPr lang="en-US"/>
          </a:p>
        </p:txBody>
      </p:sp>
      <p:sp>
        <p:nvSpPr>
          <p:cNvPr id="12" name="Text 10"/>
          <p:cNvSpPr txBox="1"/>
          <p:nvPr/>
        </p:nvSpPr>
        <p:spPr>
          <a:xfrm>
            <a:off x="685800" y="3136392"/>
            <a:ext cx="3749040" cy="429768"/>
          </a:xfrm>
          <a:prstGeom prst="rect">
            <a:avLst/>
          </a:prstGeom>
          <a:noFill/>
          <a:ln/>
        </p:spPr>
        <p:txBody>
          <a:bodyPr wrap="square" lIns="0" tIns="0" rIns="0" bIns="0" rtlCol="0" anchor="ctr"/>
          <a:lstStyle/>
          <a:p>
            <a:pPr marL="0" indent="0">
              <a:buNone/>
            </a:pPr>
            <a:r>
              <a:rPr lang="en-US" sz="1100" dirty="0">
                <a:solidFill>
                  <a:srgbClr val="00C8A0"/>
                </a:solidFill>
                <a:latin typeface="Courier New" pitchFamily="34" charset="0"/>
                <a:ea typeface="Courier New" pitchFamily="34" charset="-122"/>
                <a:cs typeface="Courier New" pitchFamily="34" charset="-120"/>
              </a:rPr>
              <a:t>✓  Confidence: HIGH</a:t>
            </a:r>
            <a:endParaRPr lang="en-US" sz="1100" dirty="0"/>
          </a:p>
        </p:txBody>
      </p:sp>
      <p:sp>
        <p:nvSpPr>
          <p:cNvPr id="13" name="Shape 11"/>
          <p:cNvSpPr/>
          <p:nvPr/>
        </p:nvSpPr>
        <p:spPr>
          <a:xfrm>
            <a:off x="548640" y="3648456"/>
            <a:ext cx="3977640" cy="429768"/>
          </a:xfrm>
          <a:prstGeom prst="roundRect">
            <a:avLst>
              <a:gd name="adj" fmla="val 10638"/>
            </a:avLst>
          </a:prstGeom>
          <a:solidFill>
            <a:srgbClr val="0A2020"/>
          </a:solidFill>
          <a:ln w="7620">
            <a:solidFill>
              <a:srgbClr val="1A4035"/>
            </a:solidFill>
            <a:prstDash val="solid"/>
          </a:ln>
        </p:spPr>
        <p:txBody>
          <a:bodyPr/>
          <a:lstStyle/>
          <a:p>
            <a:endParaRPr lang="en-US"/>
          </a:p>
        </p:txBody>
      </p:sp>
      <p:sp>
        <p:nvSpPr>
          <p:cNvPr id="14" name="Text 12"/>
          <p:cNvSpPr txBox="1"/>
          <p:nvPr/>
        </p:nvSpPr>
        <p:spPr>
          <a:xfrm>
            <a:off x="685800" y="3648456"/>
            <a:ext cx="3749040" cy="429768"/>
          </a:xfrm>
          <a:prstGeom prst="rect">
            <a:avLst/>
          </a:prstGeom>
          <a:noFill/>
          <a:ln/>
        </p:spPr>
        <p:txBody>
          <a:bodyPr wrap="square" lIns="0" tIns="0" rIns="0" bIns="0" rtlCol="0" anchor="ctr"/>
          <a:lstStyle/>
          <a:p>
            <a:pPr marL="0" indent="0">
              <a:buNone/>
            </a:pPr>
            <a:r>
              <a:rPr lang="en-US" sz="1100" dirty="0">
                <a:solidFill>
                  <a:srgbClr val="00C8A0"/>
                </a:solidFill>
                <a:latin typeface="Courier New" pitchFamily="34" charset="0"/>
                <a:ea typeface="Courier New" pitchFamily="34" charset="-122"/>
                <a:cs typeface="Courier New" pitchFamily="34" charset="-120"/>
              </a:rPr>
              <a:t>✓  Grade threshold: &gt; 0.7</a:t>
            </a:r>
            <a:endParaRPr lang="en-US" sz="1100" dirty="0"/>
          </a:p>
        </p:txBody>
      </p:sp>
      <p:sp>
        <p:nvSpPr>
          <p:cNvPr id="15" name="Text 13"/>
          <p:cNvSpPr txBox="1"/>
          <p:nvPr/>
        </p:nvSpPr>
        <p:spPr>
          <a:xfrm>
            <a:off x="4846320" y="1371600"/>
            <a:ext cx="4023360" cy="201168"/>
          </a:xfrm>
          <a:prstGeom prst="rect">
            <a:avLst/>
          </a:prstGeom>
          <a:noFill/>
          <a:ln/>
        </p:spPr>
        <p:txBody>
          <a:bodyPr wrap="square" rtlCol="0" anchor="ctr"/>
          <a:lstStyle/>
          <a:p>
            <a:pPr marL="0" indent="0">
              <a:buNone/>
            </a:pPr>
            <a:r>
              <a:rPr lang="en-US" sz="750" kern="0" spc="300" dirty="0">
                <a:solidFill>
                  <a:schemeClr val="bg2"/>
                </a:solidFill>
                <a:latin typeface="Calibri" pitchFamily="34" charset="0"/>
                <a:ea typeface="Calibri" pitchFamily="34" charset="-122"/>
                <a:cs typeface="Calibri" pitchFamily="34" charset="-120"/>
              </a:rPr>
              <a:t>WHAT IT DOESN'T TELL YOU</a:t>
            </a:r>
            <a:endParaRPr lang="en-US" sz="750" dirty="0">
              <a:solidFill>
                <a:schemeClr val="bg2"/>
              </a:solidFill>
            </a:endParaRPr>
          </a:p>
        </p:txBody>
      </p:sp>
      <p:sp>
        <p:nvSpPr>
          <p:cNvPr id="16" name="Shape 14"/>
          <p:cNvSpPr/>
          <p:nvPr/>
        </p:nvSpPr>
        <p:spPr>
          <a:xfrm>
            <a:off x="4846320" y="1600200"/>
            <a:ext cx="3977640" cy="429768"/>
          </a:xfrm>
          <a:prstGeom prst="roundRect">
            <a:avLst>
              <a:gd name="adj" fmla="val 10638"/>
            </a:avLst>
          </a:prstGeom>
          <a:solidFill>
            <a:srgbClr val="0F1829"/>
          </a:solidFill>
          <a:ln w="7620">
            <a:solidFill>
              <a:srgbClr val="172035"/>
            </a:solidFill>
            <a:prstDash val="solid"/>
          </a:ln>
        </p:spPr>
        <p:txBody>
          <a:bodyPr/>
          <a:lstStyle/>
          <a:p>
            <a:endParaRPr lang="en-US"/>
          </a:p>
        </p:txBody>
      </p:sp>
      <p:sp>
        <p:nvSpPr>
          <p:cNvPr id="17" name="Text 15"/>
          <p:cNvSpPr txBox="1"/>
          <p:nvPr/>
        </p:nvSpPr>
        <p:spPr>
          <a:xfrm>
            <a:off x="4983480" y="1600200"/>
            <a:ext cx="3749040" cy="429768"/>
          </a:xfrm>
          <a:prstGeom prst="rect">
            <a:avLst/>
          </a:prstGeom>
          <a:noFill/>
          <a:ln/>
        </p:spPr>
        <p:txBody>
          <a:bodyPr wrap="square" lIns="0" tIns="0" rIns="0" bIns="0" rtlCol="0" anchor="ctr"/>
          <a:lstStyle/>
          <a:p>
            <a:pPr marL="0" indent="0">
              <a:buNone/>
            </a:pPr>
            <a:r>
              <a:rPr lang="en-US" sz="1100" dirty="0">
                <a:solidFill>
                  <a:srgbClr val="8BA3C7"/>
                </a:solidFill>
                <a:latin typeface="Calibri" pitchFamily="34" charset="0"/>
                <a:ea typeface="Calibri" pitchFamily="34" charset="-122"/>
                <a:cs typeface="Calibri" pitchFamily="34" charset="-120"/>
              </a:rPr>
              <a:t>–  Root cause</a:t>
            </a:r>
            <a:endParaRPr lang="en-US" sz="1100" dirty="0"/>
          </a:p>
        </p:txBody>
      </p:sp>
      <p:sp>
        <p:nvSpPr>
          <p:cNvPr id="18" name="Shape 16"/>
          <p:cNvSpPr/>
          <p:nvPr/>
        </p:nvSpPr>
        <p:spPr>
          <a:xfrm>
            <a:off x="4846320" y="2112264"/>
            <a:ext cx="3977640" cy="429768"/>
          </a:xfrm>
          <a:prstGeom prst="roundRect">
            <a:avLst>
              <a:gd name="adj" fmla="val 10638"/>
            </a:avLst>
          </a:prstGeom>
          <a:solidFill>
            <a:srgbClr val="0F1829"/>
          </a:solidFill>
          <a:ln w="7620">
            <a:solidFill>
              <a:srgbClr val="172035"/>
            </a:solidFill>
            <a:prstDash val="solid"/>
          </a:ln>
        </p:spPr>
        <p:txBody>
          <a:bodyPr/>
          <a:lstStyle/>
          <a:p>
            <a:endParaRPr lang="en-US"/>
          </a:p>
        </p:txBody>
      </p:sp>
      <p:sp>
        <p:nvSpPr>
          <p:cNvPr id="19" name="Text 17"/>
          <p:cNvSpPr txBox="1"/>
          <p:nvPr/>
        </p:nvSpPr>
        <p:spPr>
          <a:xfrm>
            <a:off x="4983480" y="2112264"/>
            <a:ext cx="3749040" cy="429768"/>
          </a:xfrm>
          <a:prstGeom prst="rect">
            <a:avLst/>
          </a:prstGeom>
          <a:noFill/>
          <a:ln/>
        </p:spPr>
        <p:txBody>
          <a:bodyPr wrap="square" lIns="0" tIns="0" rIns="0" bIns="0" rtlCol="0" anchor="ctr"/>
          <a:lstStyle/>
          <a:p>
            <a:pPr marL="0" indent="0">
              <a:buNone/>
            </a:pPr>
            <a:r>
              <a:rPr lang="en-US" sz="1100" dirty="0">
                <a:solidFill>
                  <a:srgbClr val="8BA3C7"/>
                </a:solidFill>
                <a:latin typeface="Calibri" pitchFamily="34" charset="0"/>
                <a:ea typeface="Calibri" pitchFamily="34" charset="-122"/>
                <a:cs typeface="Calibri" pitchFamily="34" charset="-120"/>
              </a:rPr>
              <a:t>–  Which component failed</a:t>
            </a:r>
            <a:endParaRPr lang="en-US" sz="1100" dirty="0"/>
          </a:p>
        </p:txBody>
      </p:sp>
      <p:sp>
        <p:nvSpPr>
          <p:cNvPr id="20" name="Shape 18"/>
          <p:cNvSpPr/>
          <p:nvPr/>
        </p:nvSpPr>
        <p:spPr>
          <a:xfrm>
            <a:off x="4846320" y="2624328"/>
            <a:ext cx="3977640" cy="429768"/>
          </a:xfrm>
          <a:prstGeom prst="roundRect">
            <a:avLst>
              <a:gd name="adj" fmla="val 10638"/>
            </a:avLst>
          </a:prstGeom>
          <a:solidFill>
            <a:srgbClr val="0F1829"/>
          </a:solidFill>
          <a:ln w="7620">
            <a:solidFill>
              <a:srgbClr val="172035"/>
            </a:solidFill>
            <a:prstDash val="solid"/>
          </a:ln>
        </p:spPr>
        <p:txBody>
          <a:bodyPr/>
          <a:lstStyle/>
          <a:p>
            <a:endParaRPr lang="en-US"/>
          </a:p>
        </p:txBody>
      </p:sp>
      <p:sp>
        <p:nvSpPr>
          <p:cNvPr id="21" name="Text 19"/>
          <p:cNvSpPr txBox="1"/>
          <p:nvPr/>
        </p:nvSpPr>
        <p:spPr>
          <a:xfrm>
            <a:off x="4983480" y="2624328"/>
            <a:ext cx="3749040" cy="429768"/>
          </a:xfrm>
          <a:prstGeom prst="rect">
            <a:avLst/>
          </a:prstGeom>
          <a:noFill/>
          <a:ln/>
        </p:spPr>
        <p:txBody>
          <a:bodyPr wrap="square" lIns="0" tIns="0" rIns="0" bIns="0" rtlCol="0" anchor="ctr"/>
          <a:lstStyle/>
          <a:p>
            <a:pPr marL="0" indent="0">
              <a:buNone/>
            </a:pPr>
            <a:r>
              <a:rPr lang="en-US" sz="1100" dirty="0">
                <a:solidFill>
                  <a:srgbClr val="8BA3C7"/>
                </a:solidFill>
                <a:latin typeface="Calibri" pitchFamily="34" charset="0"/>
                <a:ea typeface="Calibri" pitchFamily="34" charset="-122"/>
                <a:cs typeface="Calibri" pitchFamily="34" charset="-120"/>
              </a:rPr>
              <a:t>–  What changed recently</a:t>
            </a:r>
            <a:endParaRPr lang="en-US" sz="1100" dirty="0"/>
          </a:p>
        </p:txBody>
      </p:sp>
      <p:sp>
        <p:nvSpPr>
          <p:cNvPr id="22" name="Shape 20"/>
          <p:cNvSpPr/>
          <p:nvPr/>
        </p:nvSpPr>
        <p:spPr>
          <a:xfrm>
            <a:off x="4846320" y="3136392"/>
            <a:ext cx="3977640" cy="429768"/>
          </a:xfrm>
          <a:prstGeom prst="roundRect">
            <a:avLst>
              <a:gd name="adj" fmla="val 10638"/>
            </a:avLst>
          </a:prstGeom>
          <a:solidFill>
            <a:srgbClr val="0F1829"/>
          </a:solidFill>
          <a:ln w="7620">
            <a:solidFill>
              <a:srgbClr val="172035"/>
            </a:solidFill>
            <a:prstDash val="solid"/>
          </a:ln>
        </p:spPr>
        <p:txBody>
          <a:bodyPr/>
          <a:lstStyle/>
          <a:p>
            <a:endParaRPr lang="en-US"/>
          </a:p>
        </p:txBody>
      </p:sp>
      <p:sp>
        <p:nvSpPr>
          <p:cNvPr id="23" name="Text 21"/>
          <p:cNvSpPr txBox="1"/>
          <p:nvPr/>
        </p:nvSpPr>
        <p:spPr>
          <a:xfrm>
            <a:off x="4983480" y="3136392"/>
            <a:ext cx="3749040" cy="429768"/>
          </a:xfrm>
          <a:prstGeom prst="rect">
            <a:avLst/>
          </a:prstGeom>
          <a:noFill/>
          <a:ln/>
        </p:spPr>
        <p:txBody>
          <a:bodyPr wrap="square" lIns="0" tIns="0" rIns="0" bIns="0" rtlCol="0" anchor="ctr"/>
          <a:lstStyle/>
          <a:p>
            <a:pPr marL="0" indent="0">
              <a:buNone/>
            </a:pPr>
            <a:r>
              <a:rPr lang="en-US" sz="1100" dirty="0">
                <a:solidFill>
                  <a:srgbClr val="8BA3C7"/>
                </a:solidFill>
                <a:latin typeface="Calibri" pitchFamily="34" charset="0"/>
                <a:ea typeface="Calibri" pitchFamily="34" charset="-122"/>
                <a:cs typeface="Calibri" pitchFamily="34" charset="-120"/>
              </a:rPr>
              <a:t>–  Correlated error patterns</a:t>
            </a:r>
            <a:endParaRPr lang="en-US" sz="1100" dirty="0"/>
          </a:p>
        </p:txBody>
      </p:sp>
      <p:sp>
        <p:nvSpPr>
          <p:cNvPr id="24" name="Shape 22"/>
          <p:cNvSpPr/>
          <p:nvPr/>
        </p:nvSpPr>
        <p:spPr>
          <a:xfrm>
            <a:off x="4846320" y="3648456"/>
            <a:ext cx="3977640" cy="429768"/>
          </a:xfrm>
          <a:prstGeom prst="roundRect">
            <a:avLst>
              <a:gd name="adj" fmla="val 10638"/>
            </a:avLst>
          </a:prstGeom>
          <a:solidFill>
            <a:srgbClr val="0F1829"/>
          </a:solidFill>
          <a:ln w="7620">
            <a:solidFill>
              <a:srgbClr val="172035"/>
            </a:solidFill>
            <a:prstDash val="solid"/>
          </a:ln>
        </p:spPr>
        <p:txBody>
          <a:bodyPr/>
          <a:lstStyle/>
          <a:p>
            <a:endParaRPr lang="en-US"/>
          </a:p>
        </p:txBody>
      </p:sp>
      <p:sp>
        <p:nvSpPr>
          <p:cNvPr id="25" name="Text 23"/>
          <p:cNvSpPr txBox="1"/>
          <p:nvPr/>
        </p:nvSpPr>
        <p:spPr>
          <a:xfrm>
            <a:off x="4983480" y="3648456"/>
            <a:ext cx="3749040" cy="429768"/>
          </a:xfrm>
          <a:prstGeom prst="rect">
            <a:avLst/>
          </a:prstGeom>
          <a:noFill/>
          <a:ln/>
        </p:spPr>
        <p:txBody>
          <a:bodyPr wrap="square" lIns="0" tIns="0" rIns="0" bIns="0" rtlCol="0" anchor="ctr"/>
          <a:lstStyle/>
          <a:p>
            <a:pPr marL="0" indent="0">
              <a:buNone/>
            </a:pPr>
            <a:r>
              <a:rPr lang="en-US" sz="1100" dirty="0">
                <a:solidFill>
                  <a:srgbClr val="8BA3C7"/>
                </a:solidFill>
                <a:latin typeface="Calibri" pitchFamily="34" charset="0"/>
                <a:ea typeface="Calibri" pitchFamily="34" charset="-122"/>
                <a:cs typeface="Calibri" pitchFamily="34" charset="-120"/>
              </a:rPr>
              <a:t>–  Recommended action</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Effect transition="in" filter="fade">
                                      <p:cBhvr>
                                        <p:cTn id="57" dur="500"/>
                                        <p:tgtEl>
                                          <p:spTgt spid="15">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01168"/>
          </a:xfrm>
          <a:prstGeom prst="rect">
            <a:avLst/>
          </a:prstGeom>
          <a:noFill/>
          <a:ln/>
        </p:spPr>
        <p:txBody>
          <a:bodyPr wrap="square" rtlCol="0" anchor="ctr"/>
          <a:lstStyle/>
          <a:p>
            <a:pPr marL="0" indent="0">
              <a:buNone/>
            </a:pPr>
            <a:r>
              <a:rPr lang="en-US" sz="800" kern="0" spc="500" dirty="0">
                <a:solidFill>
                  <a:schemeClr val="tx2"/>
                </a:solidFill>
                <a:latin typeface="Calibri" pitchFamily="34" charset="0"/>
                <a:ea typeface="Calibri" pitchFamily="34" charset="-122"/>
                <a:cs typeface="Calibri" pitchFamily="34" charset="-120"/>
              </a:rPr>
              <a:t>THE SOLUTION</a:t>
            </a:r>
            <a:endParaRPr lang="en-US" sz="800" dirty="0">
              <a:solidFill>
                <a:schemeClr val="tx2"/>
              </a:solidFill>
            </a:endParaRPr>
          </a:p>
        </p:txBody>
      </p:sp>
      <p:sp>
        <p:nvSpPr>
          <p:cNvPr id="3" name="Text 1"/>
          <p:cNvSpPr txBox="1"/>
          <p:nvPr/>
        </p:nvSpPr>
        <p:spPr>
          <a:xfrm>
            <a:off x="548640" y="612648"/>
            <a:ext cx="8321040" cy="914400"/>
          </a:xfrm>
          <a:prstGeom prst="rect">
            <a:avLst/>
          </a:prstGeom>
          <a:noFill/>
          <a:ln/>
        </p:spPr>
        <p:txBody>
          <a:bodyPr wrap="square" lIns="0" tIns="0" rIns="0" bIns="0" rtlCol="0" anchor="ctr"/>
          <a:lstStyle/>
          <a:p>
            <a:pPr marL="0" indent="0">
              <a:buNone/>
            </a:pPr>
            <a:r>
              <a:rPr lang="en-US" sz="2600" b="1" dirty="0">
                <a:solidFill>
                  <a:srgbClr val="DDE7F7"/>
                </a:solidFill>
                <a:latin typeface="Cambria" pitchFamily="34" charset="0"/>
                <a:ea typeface="Cambria" pitchFamily="34" charset="-122"/>
                <a:cs typeface="Cambria" pitchFamily="34" charset="-120"/>
              </a:rPr>
              <a:t>Connect detection to investigation.</a:t>
            </a:r>
            <a:endParaRPr lang="en-US" sz="2600" dirty="0"/>
          </a:p>
        </p:txBody>
      </p:sp>
      <p:sp>
        <p:nvSpPr>
          <p:cNvPr id="4" name="Shape 2"/>
          <p:cNvSpPr/>
          <p:nvPr/>
        </p:nvSpPr>
        <p:spPr>
          <a:xfrm>
            <a:off x="365760" y="1371600"/>
            <a:ext cx="1600200" cy="384048"/>
          </a:xfrm>
          <a:prstGeom prst="roundRect">
            <a:avLst>
              <a:gd name="adj" fmla="val 11905"/>
            </a:avLst>
          </a:prstGeom>
          <a:solidFill>
            <a:srgbClr val="172035"/>
          </a:solidFill>
          <a:ln w="10160">
            <a:solidFill>
              <a:srgbClr val="2A3D58"/>
            </a:solidFill>
            <a:prstDash val="solid"/>
          </a:ln>
        </p:spPr>
        <p:txBody>
          <a:bodyPr/>
          <a:lstStyle/>
          <a:p>
            <a:endParaRPr lang="en-US"/>
          </a:p>
        </p:txBody>
      </p:sp>
      <p:sp>
        <p:nvSpPr>
          <p:cNvPr id="5" name="Text 3"/>
          <p:cNvSpPr txBox="1"/>
          <p:nvPr/>
        </p:nvSpPr>
        <p:spPr>
          <a:xfrm>
            <a:off x="365760" y="1371600"/>
            <a:ext cx="1600200" cy="384048"/>
          </a:xfrm>
          <a:prstGeom prst="rect">
            <a:avLst/>
          </a:prstGeom>
          <a:noFill/>
          <a:ln/>
        </p:spPr>
        <p:txBody>
          <a:bodyPr wrap="square" lIns="0" tIns="0" rIns="0" bIns="0" rtlCol="0" anchor="ctr"/>
          <a:lstStyle/>
          <a:p>
            <a:pPr marL="0" indent="0" algn="ctr">
              <a:buNone/>
            </a:pPr>
            <a:r>
              <a:rPr lang="en-US" sz="850" dirty="0">
                <a:solidFill>
                  <a:srgbClr val="8BA3C7"/>
                </a:solidFill>
                <a:latin typeface="Courier New" pitchFamily="34" charset="0"/>
                <a:ea typeface="Courier New" pitchFamily="34" charset="-122"/>
                <a:cs typeface="Courier New" pitchFamily="34" charset="-120"/>
              </a:rPr>
              <a:t>anomaly_detector</a:t>
            </a:r>
            <a:endParaRPr lang="en-US" sz="850" dirty="0"/>
          </a:p>
        </p:txBody>
      </p:sp>
      <p:sp>
        <p:nvSpPr>
          <p:cNvPr id="6" name="Text 4"/>
          <p:cNvSpPr txBox="1"/>
          <p:nvPr/>
        </p:nvSpPr>
        <p:spPr>
          <a:xfrm>
            <a:off x="2011680" y="1371600"/>
            <a:ext cx="777240" cy="384048"/>
          </a:xfrm>
          <a:prstGeom prst="rect">
            <a:avLst/>
          </a:prstGeom>
          <a:noFill/>
          <a:ln/>
        </p:spPr>
        <p:txBody>
          <a:bodyPr wrap="square" lIns="0" tIns="0" rIns="0" bIns="0" rtlCol="0" anchor="ctr"/>
          <a:lstStyle/>
          <a:p>
            <a:pPr marL="0" indent="0" algn="ctr">
              <a:buNone/>
            </a:pPr>
            <a:r>
              <a:rPr lang="en-US" sz="850" dirty="0">
                <a:solidFill>
                  <a:schemeClr val="tx2"/>
                </a:solidFill>
                <a:latin typeface="Courier New" pitchFamily="34" charset="0"/>
                <a:ea typeface="Courier New" pitchFamily="34" charset="-122"/>
                <a:cs typeface="Courier New" pitchFamily="34" charset="-120"/>
              </a:rPr>
              <a:t>grade &gt; 0.7</a:t>
            </a:r>
            <a:endParaRPr lang="en-US" sz="850" dirty="0">
              <a:solidFill>
                <a:schemeClr val="tx2"/>
              </a:solidFill>
            </a:endParaRPr>
          </a:p>
        </p:txBody>
      </p:sp>
      <p:sp>
        <p:nvSpPr>
          <p:cNvPr id="7" name="Shape 5"/>
          <p:cNvSpPr/>
          <p:nvPr/>
        </p:nvSpPr>
        <p:spPr>
          <a:xfrm>
            <a:off x="2834640" y="1371600"/>
            <a:ext cx="1554480" cy="384048"/>
          </a:xfrm>
          <a:prstGeom prst="roundRect">
            <a:avLst>
              <a:gd name="adj" fmla="val 11905"/>
            </a:avLst>
          </a:prstGeom>
          <a:solidFill>
            <a:srgbClr val="1E0A05"/>
          </a:solidFill>
          <a:ln w="10160">
            <a:solidFill>
              <a:srgbClr val="FF6130"/>
            </a:solidFill>
            <a:prstDash val="solid"/>
          </a:ln>
        </p:spPr>
        <p:txBody>
          <a:bodyPr/>
          <a:lstStyle/>
          <a:p>
            <a:endParaRPr lang="en-US"/>
          </a:p>
        </p:txBody>
      </p:sp>
      <p:sp>
        <p:nvSpPr>
          <p:cNvPr id="8" name="Text 6"/>
          <p:cNvSpPr txBox="1"/>
          <p:nvPr/>
        </p:nvSpPr>
        <p:spPr>
          <a:xfrm>
            <a:off x="2834640" y="1371600"/>
            <a:ext cx="1554480" cy="384048"/>
          </a:xfrm>
          <a:prstGeom prst="rect">
            <a:avLst/>
          </a:prstGeom>
          <a:noFill/>
          <a:ln/>
        </p:spPr>
        <p:txBody>
          <a:bodyPr wrap="square" lIns="0" tIns="0" rIns="0" bIns="0" rtlCol="0" anchor="ctr"/>
          <a:lstStyle/>
          <a:p>
            <a:pPr marL="0" indent="0" algn="ctr">
              <a:buNone/>
            </a:pPr>
            <a:r>
              <a:rPr lang="en-US" sz="850" dirty="0">
                <a:solidFill>
                  <a:srgbClr val="FF6130"/>
                </a:solidFill>
                <a:latin typeface="Courier New" pitchFamily="34" charset="0"/>
                <a:ea typeface="Courier New" pitchFamily="34" charset="-122"/>
                <a:cs typeface="Courier New" pitchFamily="34" charset="-120"/>
              </a:rPr>
              <a:t>alerting_monitor</a:t>
            </a:r>
            <a:endParaRPr lang="en-US" sz="850" dirty="0"/>
          </a:p>
        </p:txBody>
      </p:sp>
      <p:sp>
        <p:nvSpPr>
          <p:cNvPr id="9" name="Text 7"/>
          <p:cNvSpPr txBox="1"/>
          <p:nvPr/>
        </p:nvSpPr>
        <p:spPr>
          <a:xfrm>
            <a:off x="4434840" y="1371600"/>
            <a:ext cx="685800" cy="384048"/>
          </a:xfrm>
          <a:prstGeom prst="rect">
            <a:avLst/>
          </a:prstGeom>
          <a:noFill/>
          <a:ln/>
        </p:spPr>
        <p:txBody>
          <a:bodyPr wrap="square" lIns="0" tIns="0" rIns="0" bIns="0" rtlCol="0" anchor="ctr"/>
          <a:lstStyle/>
          <a:p>
            <a:pPr marL="0" indent="0" algn="ctr">
              <a:buNone/>
            </a:pPr>
            <a:r>
              <a:rPr lang="en-US" sz="850" dirty="0">
                <a:solidFill>
                  <a:schemeClr val="tx2"/>
                </a:solidFill>
                <a:latin typeface="Courier New" pitchFamily="34" charset="0"/>
                <a:ea typeface="Courier New" pitchFamily="34" charset="-122"/>
                <a:cs typeface="Courier New" pitchFamily="34" charset="-120"/>
              </a:rPr>
              <a:t>webhook</a:t>
            </a:r>
            <a:endParaRPr lang="en-US" sz="850" dirty="0">
              <a:solidFill>
                <a:schemeClr val="tx2"/>
              </a:solidFill>
            </a:endParaRPr>
          </a:p>
        </p:txBody>
      </p:sp>
      <p:sp>
        <p:nvSpPr>
          <p:cNvPr id="10" name="Shape 8"/>
          <p:cNvSpPr/>
          <p:nvPr/>
        </p:nvSpPr>
        <p:spPr>
          <a:xfrm>
            <a:off x="5166360" y="1371600"/>
            <a:ext cx="1280160" cy="384048"/>
          </a:xfrm>
          <a:prstGeom prst="roundRect">
            <a:avLst>
              <a:gd name="adj" fmla="val 11905"/>
            </a:avLst>
          </a:prstGeom>
          <a:solidFill>
            <a:srgbClr val="050E28"/>
          </a:solidFill>
          <a:ln w="10160">
            <a:solidFill>
              <a:srgbClr val="4F7EFF"/>
            </a:solidFill>
            <a:prstDash val="solid"/>
          </a:ln>
        </p:spPr>
        <p:txBody>
          <a:bodyPr/>
          <a:lstStyle/>
          <a:p>
            <a:endParaRPr lang="en-US"/>
          </a:p>
        </p:txBody>
      </p:sp>
      <p:sp>
        <p:nvSpPr>
          <p:cNvPr id="11" name="Text 9"/>
          <p:cNvSpPr txBox="1"/>
          <p:nvPr/>
        </p:nvSpPr>
        <p:spPr>
          <a:xfrm>
            <a:off x="5166360" y="1371600"/>
            <a:ext cx="1280160" cy="384048"/>
          </a:xfrm>
          <a:prstGeom prst="rect">
            <a:avLst/>
          </a:prstGeom>
          <a:noFill/>
          <a:ln/>
        </p:spPr>
        <p:txBody>
          <a:bodyPr wrap="square" lIns="0" tIns="0" rIns="0" bIns="0" rtlCol="0" anchor="ctr"/>
          <a:lstStyle/>
          <a:p>
            <a:pPr marL="0" indent="0" algn="ctr">
              <a:buNone/>
            </a:pPr>
            <a:r>
              <a:rPr lang="en-US" sz="850" dirty="0">
                <a:solidFill>
                  <a:srgbClr val="4F7EFF"/>
                </a:solidFill>
                <a:latin typeface="Courier New" pitchFamily="34" charset="0"/>
                <a:ea typeface="Courier New" pitchFamily="34" charset="-122"/>
                <a:cs typeface="Courier New" pitchFamily="34" charset="-120"/>
              </a:rPr>
              <a:t>flow_agent</a:t>
            </a:r>
            <a:endParaRPr lang="en-US" sz="850" dirty="0"/>
          </a:p>
        </p:txBody>
      </p:sp>
      <p:sp>
        <p:nvSpPr>
          <p:cNvPr id="12" name="Text 10"/>
          <p:cNvSpPr txBox="1"/>
          <p:nvPr/>
        </p:nvSpPr>
        <p:spPr>
          <a:xfrm>
            <a:off x="6492240" y="1371600"/>
            <a:ext cx="594360" cy="384048"/>
          </a:xfrm>
          <a:prstGeom prst="rect">
            <a:avLst/>
          </a:prstGeom>
          <a:noFill/>
          <a:ln/>
        </p:spPr>
        <p:txBody>
          <a:bodyPr wrap="square" lIns="0" tIns="0" rIns="0" bIns="0" rtlCol="0" anchor="ctr"/>
          <a:lstStyle/>
          <a:p>
            <a:pPr marL="0" indent="0" algn="ctr">
              <a:buNone/>
            </a:pPr>
            <a:r>
              <a:rPr lang="en-US" sz="850" dirty="0">
                <a:solidFill>
                  <a:schemeClr val="tx2"/>
                </a:solidFill>
                <a:latin typeface="Courier New" pitchFamily="34" charset="0"/>
                <a:ea typeface="Courier New" pitchFamily="34" charset="-122"/>
                <a:cs typeface="Courier New" pitchFamily="34" charset="-120"/>
              </a:rPr>
              <a:t>tools →</a:t>
            </a:r>
            <a:endParaRPr lang="en-US" sz="850" dirty="0">
              <a:solidFill>
                <a:schemeClr val="tx2"/>
              </a:solidFill>
            </a:endParaRPr>
          </a:p>
        </p:txBody>
      </p:sp>
      <p:sp>
        <p:nvSpPr>
          <p:cNvPr id="13" name="Shape 11"/>
          <p:cNvSpPr/>
          <p:nvPr/>
        </p:nvSpPr>
        <p:spPr>
          <a:xfrm>
            <a:off x="7132320" y="1371600"/>
            <a:ext cx="1417320" cy="384048"/>
          </a:xfrm>
          <a:prstGeom prst="roundRect">
            <a:avLst>
              <a:gd name="adj" fmla="val 11905"/>
            </a:avLst>
          </a:prstGeom>
          <a:solidFill>
            <a:srgbClr val="031A13"/>
          </a:solidFill>
          <a:ln w="10160">
            <a:solidFill>
              <a:srgbClr val="00C8A0"/>
            </a:solidFill>
            <a:prstDash val="solid"/>
          </a:ln>
        </p:spPr>
        <p:txBody>
          <a:bodyPr/>
          <a:lstStyle/>
          <a:p>
            <a:endParaRPr lang="en-US"/>
          </a:p>
        </p:txBody>
      </p:sp>
      <p:sp>
        <p:nvSpPr>
          <p:cNvPr id="14" name="Text 12"/>
          <p:cNvSpPr txBox="1"/>
          <p:nvPr/>
        </p:nvSpPr>
        <p:spPr>
          <a:xfrm>
            <a:off x="7132320" y="1371600"/>
            <a:ext cx="1417320" cy="384048"/>
          </a:xfrm>
          <a:prstGeom prst="rect">
            <a:avLst/>
          </a:prstGeom>
          <a:noFill/>
          <a:ln/>
        </p:spPr>
        <p:txBody>
          <a:bodyPr wrap="square" lIns="0" tIns="0" rIns="0" bIns="0" rtlCol="0" anchor="ctr"/>
          <a:lstStyle/>
          <a:p>
            <a:pPr marL="0" indent="0" algn="ctr">
              <a:buNone/>
            </a:pPr>
            <a:r>
              <a:rPr lang="en-US" sz="850" dirty="0">
                <a:solidFill>
                  <a:srgbClr val="00C8A0"/>
                </a:solidFill>
                <a:latin typeface="Courier New" pitchFamily="34" charset="0"/>
                <a:ea typeface="Courier New" pitchFamily="34" charset="-122"/>
                <a:cs typeface="Courier New" pitchFamily="34" charset="-120"/>
              </a:rPr>
              <a:t>ranked report</a:t>
            </a:r>
            <a:endParaRPr lang="en-US" sz="850" dirty="0"/>
          </a:p>
        </p:txBody>
      </p:sp>
      <p:sp>
        <p:nvSpPr>
          <p:cNvPr id="15" name="Text 13"/>
          <p:cNvSpPr txBox="1"/>
          <p:nvPr/>
        </p:nvSpPr>
        <p:spPr>
          <a:xfrm>
            <a:off x="548640" y="2011680"/>
            <a:ext cx="8229600" cy="201168"/>
          </a:xfrm>
          <a:prstGeom prst="rect">
            <a:avLst/>
          </a:prstGeom>
          <a:noFill/>
          <a:ln/>
        </p:spPr>
        <p:txBody>
          <a:bodyPr wrap="square" rtlCol="0" anchor="ctr"/>
          <a:lstStyle/>
          <a:p>
            <a:pPr marL="0" indent="0">
              <a:buNone/>
            </a:pPr>
            <a:r>
              <a:rPr lang="en-US" sz="750" kern="0" spc="300" dirty="0">
                <a:solidFill>
                  <a:schemeClr val="tx2"/>
                </a:solidFill>
                <a:latin typeface="Calibri" pitchFamily="34" charset="0"/>
                <a:ea typeface="Calibri" pitchFamily="34" charset="-122"/>
                <a:cs typeface="Calibri" pitchFamily="34" charset="-120"/>
              </a:rPr>
              <a:t>TOOLS IN THE FLOW</a:t>
            </a:r>
            <a:endParaRPr lang="en-US" sz="750" dirty="0">
              <a:solidFill>
                <a:schemeClr val="tx2"/>
              </a:solidFill>
            </a:endParaRPr>
          </a:p>
        </p:txBody>
      </p:sp>
      <p:sp>
        <p:nvSpPr>
          <p:cNvPr id="16" name="Shape 14"/>
          <p:cNvSpPr/>
          <p:nvPr/>
        </p:nvSpPr>
        <p:spPr>
          <a:xfrm>
            <a:off x="548640" y="2267712"/>
            <a:ext cx="3977640" cy="420624"/>
          </a:xfrm>
          <a:prstGeom prst="roundRect">
            <a:avLst>
              <a:gd name="adj" fmla="val 10870"/>
            </a:avLst>
          </a:prstGeom>
          <a:solidFill>
            <a:srgbClr val="0F1829"/>
          </a:solidFill>
          <a:ln w="6350">
            <a:solidFill>
              <a:srgbClr val="172035"/>
            </a:solidFill>
            <a:prstDash val="solid"/>
          </a:ln>
        </p:spPr>
        <p:txBody>
          <a:bodyPr/>
          <a:lstStyle/>
          <a:p>
            <a:endParaRPr lang="en-US"/>
          </a:p>
        </p:txBody>
      </p:sp>
      <p:sp>
        <p:nvSpPr>
          <p:cNvPr id="17" name="Text 15"/>
          <p:cNvSpPr txBox="1"/>
          <p:nvPr/>
        </p:nvSpPr>
        <p:spPr>
          <a:xfrm>
            <a:off x="658368" y="2304288"/>
            <a:ext cx="3749040" cy="201168"/>
          </a:xfrm>
          <a:prstGeom prst="rect">
            <a:avLst/>
          </a:prstGeom>
          <a:noFill/>
          <a:ln/>
        </p:spPr>
        <p:txBody>
          <a:bodyPr wrap="square" lIns="0" tIns="0" rIns="0" bIns="0" rtlCol="0" anchor="ctr"/>
          <a:lstStyle/>
          <a:p>
            <a:pPr marL="0" indent="0">
              <a:buNone/>
            </a:pPr>
            <a:r>
              <a:rPr lang="en-US" sz="850" dirty="0">
                <a:solidFill>
                  <a:srgbClr val="4F7EFF"/>
                </a:solidFill>
                <a:latin typeface="Courier New" pitchFamily="34" charset="0"/>
                <a:ea typeface="Courier New" pitchFamily="34" charset="-122"/>
                <a:cs typeface="Courier New" pitchFamily="34" charset="-120"/>
              </a:rPr>
              <a:t>SearchAnomalyResultsTool</a:t>
            </a:r>
            <a:endParaRPr lang="en-US" sz="850" dirty="0"/>
          </a:p>
        </p:txBody>
      </p:sp>
      <p:sp>
        <p:nvSpPr>
          <p:cNvPr id="18" name="Text 16"/>
          <p:cNvSpPr txBox="1"/>
          <p:nvPr/>
        </p:nvSpPr>
        <p:spPr>
          <a:xfrm>
            <a:off x="658368" y="2496312"/>
            <a:ext cx="3749040" cy="164592"/>
          </a:xfrm>
          <a:prstGeom prst="rect">
            <a:avLst/>
          </a:prstGeom>
          <a:noFill/>
          <a:ln/>
        </p:spPr>
        <p:txBody>
          <a:bodyPr wrap="square" lIns="0" tIns="0" rIns="0" bIns="0" rtlCol="0" anchor="ctr"/>
          <a:lstStyle/>
          <a:p>
            <a:pPr marL="0" indent="0">
              <a:buNone/>
            </a:pPr>
            <a:r>
              <a:rPr lang="en-US" sz="900" dirty="0">
                <a:solidFill>
                  <a:srgbClr val="8BA3C7"/>
                </a:solidFill>
                <a:latin typeface="Calibri" pitchFamily="34" charset="0"/>
                <a:ea typeface="Calibri" pitchFamily="34" charset="-122"/>
                <a:cs typeface="Calibri" pitchFamily="34" charset="-120"/>
              </a:rPr>
              <a:t>confirm the anomaly is real</a:t>
            </a:r>
            <a:endParaRPr lang="en-US" sz="900" dirty="0"/>
          </a:p>
        </p:txBody>
      </p:sp>
      <p:sp>
        <p:nvSpPr>
          <p:cNvPr id="19" name="Shape 17"/>
          <p:cNvSpPr/>
          <p:nvPr/>
        </p:nvSpPr>
        <p:spPr>
          <a:xfrm>
            <a:off x="548640" y="2761488"/>
            <a:ext cx="3977640" cy="420624"/>
          </a:xfrm>
          <a:prstGeom prst="roundRect">
            <a:avLst>
              <a:gd name="adj" fmla="val 10870"/>
            </a:avLst>
          </a:prstGeom>
          <a:solidFill>
            <a:srgbClr val="0F1829"/>
          </a:solidFill>
          <a:ln w="6350">
            <a:solidFill>
              <a:srgbClr val="172035"/>
            </a:solidFill>
            <a:prstDash val="solid"/>
          </a:ln>
        </p:spPr>
        <p:txBody>
          <a:bodyPr/>
          <a:lstStyle/>
          <a:p>
            <a:endParaRPr lang="en-US"/>
          </a:p>
        </p:txBody>
      </p:sp>
      <p:sp>
        <p:nvSpPr>
          <p:cNvPr id="20" name="Text 18"/>
          <p:cNvSpPr txBox="1"/>
          <p:nvPr/>
        </p:nvSpPr>
        <p:spPr>
          <a:xfrm>
            <a:off x="658368" y="2798064"/>
            <a:ext cx="3749040" cy="201168"/>
          </a:xfrm>
          <a:prstGeom prst="rect">
            <a:avLst/>
          </a:prstGeom>
          <a:noFill/>
          <a:ln/>
        </p:spPr>
        <p:txBody>
          <a:bodyPr wrap="square" lIns="0" tIns="0" rIns="0" bIns="0" rtlCol="0" anchor="ctr"/>
          <a:lstStyle/>
          <a:p>
            <a:pPr marL="0" indent="0">
              <a:buNone/>
            </a:pPr>
            <a:r>
              <a:rPr lang="en-US" sz="850" dirty="0">
                <a:solidFill>
                  <a:srgbClr val="4F7EFF"/>
                </a:solidFill>
                <a:latin typeface="Courier New" pitchFamily="34" charset="0"/>
                <a:ea typeface="Courier New" pitchFamily="34" charset="-122"/>
                <a:cs typeface="Courier New" pitchFamily="34" charset="-120"/>
              </a:rPr>
              <a:t>SearchIndexTool (prod-logs)</a:t>
            </a:r>
            <a:endParaRPr lang="en-US" sz="850" dirty="0"/>
          </a:p>
        </p:txBody>
      </p:sp>
      <p:sp>
        <p:nvSpPr>
          <p:cNvPr id="21" name="Text 19"/>
          <p:cNvSpPr txBox="1"/>
          <p:nvPr/>
        </p:nvSpPr>
        <p:spPr>
          <a:xfrm>
            <a:off x="658368" y="2990088"/>
            <a:ext cx="3749040" cy="164592"/>
          </a:xfrm>
          <a:prstGeom prst="rect">
            <a:avLst/>
          </a:prstGeom>
          <a:noFill/>
          <a:ln/>
        </p:spPr>
        <p:txBody>
          <a:bodyPr wrap="square" lIns="0" tIns="0" rIns="0" bIns="0" rtlCol="0" anchor="ctr"/>
          <a:lstStyle/>
          <a:p>
            <a:pPr marL="0" indent="0">
              <a:buNone/>
            </a:pPr>
            <a:r>
              <a:rPr lang="en-US" sz="900" dirty="0">
                <a:solidFill>
                  <a:srgbClr val="8BA3C7"/>
                </a:solidFill>
                <a:latin typeface="Calibri" pitchFamily="34" charset="0"/>
                <a:ea typeface="Calibri" pitchFamily="34" charset="-122"/>
                <a:cs typeface="Calibri" pitchFamily="34" charset="-120"/>
              </a:rPr>
              <a:t>correlate error log spikes</a:t>
            </a:r>
            <a:endParaRPr lang="en-US" sz="900" dirty="0"/>
          </a:p>
        </p:txBody>
      </p:sp>
      <p:sp>
        <p:nvSpPr>
          <p:cNvPr id="22" name="Shape 20"/>
          <p:cNvSpPr/>
          <p:nvPr/>
        </p:nvSpPr>
        <p:spPr>
          <a:xfrm>
            <a:off x="548640" y="3255264"/>
            <a:ext cx="3977640" cy="420624"/>
          </a:xfrm>
          <a:prstGeom prst="roundRect">
            <a:avLst>
              <a:gd name="adj" fmla="val 10870"/>
            </a:avLst>
          </a:prstGeom>
          <a:solidFill>
            <a:srgbClr val="0F1829"/>
          </a:solidFill>
          <a:ln w="6350">
            <a:solidFill>
              <a:srgbClr val="172035"/>
            </a:solidFill>
            <a:prstDash val="solid"/>
          </a:ln>
        </p:spPr>
        <p:txBody>
          <a:bodyPr/>
          <a:lstStyle/>
          <a:p>
            <a:endParaRPr lang="en-US"/>
          </a:p>
        </p:txBody>
      </p:sp>
      <p:sp>
        <p:nvSpPr>
          <p:cNvPr id="23" name="Text 21"/>
          <p:cNvSpPr txBox="1"/>
          <p:nvPr/>
        </p:nvSpPr>
        <p:spPr>
          <a:xfrm>
            <a:off x="658368" y="3291840"/>
            <a:ext cx="3749040" cy="201168"/>
          </a:xfrm>
          <a:prstGeom prst="rect">
            <a:avLst/>
          </a:prstGeom>
          <a:noFill/>
          <a:ln/>
        </p:spPr>
        <p:txBody>
          <a:bodyPr wrap="square" lIns="0" tIns="0" rIns="0" bIns="0" rtlCol="0" anchor="ctr"/>
          <a:lstStyle/>
          <a:p>
            <a:pPr marL="0" indent="0">
              <a:buNone/>
            </a:pPr>
            <a:r>
              <a:rPr lang="en-US" sz="850" dirty="0">
                <a:solidFill>
                  <a:srgbClr val="4F7EFF"/>
                </a:solidFill>
                <a:latin typeface="Courier New" pitchFamily="34" charset="0"/>
                <a:ea typeface="Courier New" pitchFamily="34" charset="-122"/>
                <a:cs typeface="Courier New" pitchFamily="34" charset="-120"/>
              </a:rPr>
              <a:t>SearchIndexTool (deploy-events)</a:t>
            </a:r>
            <a:endParaRPr lang="en-US" sz="850" dirty="0"/>
          </a:p>
        </p:txBody>
      </p:sp>
      <p:sp>
        <p:nvSpPr>
          <p:cNvPr id="24" name="Text 22"/>
          <p:cNvSpPr txBox="1"/>
          <p:nvPr/>
        </p:nvSpPr>
        <p:spPr>
          <a:xfrm>
            <a:off x="658368" y="3483864"/>
            <a:ext cx="3749040" cy="164592"/>
          </a:xfrm>
          <a:prstGeom prst="rect">
            <a:avLst/>
          </a:prstGeom>
          <a:noFill/>
          <a:ln/>
        </p:spPr>
        <p:txBody>
          <a:bodyPr wrap="square" lIns="0" tIns="0" rIns="0" bIns="0" rtlCol="0" anchor="ctr"/>
          <a:lstStyle/>
          <a:p>
            <a:pPr marL="0" indent="0">
              <a:buNone/>
            </a:pPr>
            <a:r>
              <a:rPr lang="en-US" sz="900" dirty="0">
                <a:solidFill>
                  <a:srgbClr val="8BA3C7"/>
                </a:solidFill>
                <a:latin typeface="Calibri" pitchFamily="34" charset="0"/>
                <a:ea typeface="Calibri" pitchFamily="34" charset="-122"/>
                <a:cs typeface="Calibri" pitchFamily="34" charset="-120"/>
              </a:rPr>
              <a:t>identify recent deployments</a:t>
            </a:r>
            <a:endParaRPr lang="en-US" sz="900" dirty="0"/>
          </a:p>
        </p:txBody>
      </p:sp>
      <p:sp>
        <p:nvSpPr>
          <p:cNvPr id="25" name="Shape 23"/>
          <p:cNvSpPr/>
          <p:nvPr/>
        </p:nvSpPr>
        <p:spPr>
          <a:xfrm>
            <a:off x="548640" y="3736171"/>
            <a:ext cx="3977640" cy="420624"/>
          </a:xfrm>
          <a:prstGeom prst="roundRect">
            <a:avLst>
              <a:gd name="adj" fmla="val 10870"/>
            </a:avLst>
          </a:prstGeom>
          <a:solidFill>
            <a:srgbClr val="0F1829"/>
          </a:solidFill>
          <a:ln w="6350">
            <a:solidFill>
              <a:srgbClr val="172035"/>
            </a:solidFill>
            <a:prstDash val="solid"/>
          </a:ln>
        </p:spPr>
        <p:txBody>
          <a:bodyPr/>
          <a:lstStyle/>
          <a:p>
            <a:endParaRPr lang="en-US"/>
          </a:p>
        </p:txBody>
      </p:sp>
      <p:sp>
        <p:nvSpPr>
          <p:cNvPr id="26" name="Text 24"/>
          <p:cNvSpPr txBox="1"/>
          <p:nvPr/>
        </p:nvSpPr>
        <p:spPr>
          <a:xfrm>
            <a:off x="658368" y="3772747"/>
            <a:ext cx="3749040" cy="201168"/>
          </a:xfrm>
          <a:prstGeom prst="rect">
            <a:avLst/>
          </a:prstGeom>
          <a:noFill/>
          <a:ln/>
        </p:spPr>
        <p:txBody>
          <a:bodyPr wrap="square" lIns="0" tIns="0" rIns="0" bIns="0" rtlCol="0" anchor="ctr"/>
          <a:lstStyle/>
          <a:p>
            <a:pPr marL="0" indent="0">
              <a:buNone/>
            </a:pPr>
            <a:r>
              <a:rPr lang="en-US" sz="850" dirty="0">
                <a:solidFill>
                  <a:srgbClr val="4F7EFF"/>
                </a:solidFill>
                <a:latin typeface="Courier New" pitchFamily="34" charset="0"/>
                <a:ea typeface="Courier New" pitchFamily="34" charset="-122"/>
                <a:cs typeface="Courier New" pitchFamily="34" charset="-120"/>
              </a:rPr>
              <a:t>LogPatternTool</a:t>
            </a:r>
            <a:endParaRPr lang="en-US" sz="850" dirty="0"/>
          </a:p>
        </p:txBody>
      </p:sp>
      <p:sp>
        <p:nvSpPr>
          <p:cNvPr id="27" name="Text 25"/>
          <p:cNvSpPr txBox="1"/>
          <p:nvPr/>
        </p:nvSpPr>
        <p:spPr>
          <a:xfrm>
            <a:off x="658368" y="3964771"/>
            <a:ext cx="3749040" cy="164592"/>
          </a:xfrm>
          <a:prstGeom prst="rect">
            <a:avLst/>
          </a:prstGeom>
          <a:noFill/>
          <a:ln/>
        </p:spPr>
        <p:txBody>
          <a:bodyPr wrap="square" lIns="0" tIns="0" rIns="0" bIns="0" rtlCol="0" anchor="ctr"/>
          <a:lstStyle/>
          <a:p>
            <a:pPr marL="0" indent="0">
              <a:buNone/>
            </a:pPr>
            <a:r>
              <a:rPr lang="en-US" sz="900" dirty="0">
                <a:solidFill>
                  <a:srgbClr val="8BA3C7"/>
                </a:solidFill>
                <a:latin typeface="Calibri" pitchFamily="34" charset="0"/>
                <a:ea typeface="Calibri" pitchFamily="34" charset="-122"/>
                <a:cs typeface="Calibri" pitchFamily="34" charset="-120"/>
              </a:rPr>
              <a:t>cluster repeated log patterns</a:t>
            </a:r>
            <a:endParaRPr lang="en-US" sz="900" dirty="0"/>
          </a:p>
        </p:txBody>
      </p:sp>
      <p:sp>
        <p:nvSpPr>
          <p:cNvPr id="28" name="Shape 26"/>
          <p:cNvSpPr/>
          <p:nvPr/>
        </p:nvSpPr>
        <p:spPr>
          <a:xfrm>
            <a:off x="548640" y="4229947"/>
            <a:ext cx="3977640" cy="420624"/>
          </a:xfrm>
          <a:prstGeom prst="roundRect">
            <a:avLst>
              <a:gd name="adj" fmla="val 10870"/>
            </a:avLst>
          </a:prstGeom>
          <a:solidFill>
            <a:srgbClr val="0F1829"/>
          </a:solidFill>
          <a:ln w="6350">
            <a:solidFill>
              <a:srgbClr val="172035"/>
            </a:solidFill>
            <a:prstDash val="solid"/>
          </a:ln>
        </p:spPr>
        <p:txBody>
          <a:bodyPr/>
          <a:lstStyle/>
          <a:p>
            <a:endParaRPr lang="en-US"/>
          </a:p>
        </p:txBody>
      </p:sp>
      <p:sp>
        <p:nvSpPr>
          <p:cNvPr id="29" name="Text 27"/>
          <p:cNvSpPr txBox="1"/>
          <p:nvPr/>
        </p:nvSpPr>
        <p:spPr>
          <a:xfrm>
            <a:off x="658368" y="4266523"/>
            <a:ext cx="3749040" cy="201168"/>
          </a:xfrm>
          <a:prstGeom prst="rect">
            <a:avLst/>
          </a:prstGeom>
          <a:noFill/>
          <a:ln/>
        </p:spPr>
        <p:txBody>
          <a:bodyPr wrap="square" lIns="0" tIns="0" rIns="0" bIns="0" rtlCol="0" anchor="ctr"/>
          <a:lstStyle/>
          <a:p>
            <a:pPr marL="0" indent="0">
              <a:buNone/>
            </a:pPr>
            <a:r>
              <a:rPr lang="en-US" sz="850" dirty="0">
                <a:solidFill>
                  <a:srgbClr val="4F7EFF"/>
                </a:solidFill>
                <a:latin typeface="Courier New" pitchFamily="34" charset="0"/>
                <a:ea typeface="Courier New" pitchFamily="34" charset="-122"/>
                <a:cs typeface="Courier New" pitchFamily="34" charset="-120"/>
              </a:rPr>
              <a:t>MLModelTool</a:t>
            </a:r>
            <a:endParaRPr lang="en-US" sz="850" dirty="0"/>
          </a:p>
        </p:txBody>
      </p:sp>
      <p:sp>
        <p:nvSpPr>
          <p:cNvPr id="30" name="Text 28"/>
          <p:cNvSpPr txBox="1"/>
          <p:nvPr/>
        </p:nvSpPr>
        <p:spPr>
          <a:xfrm>
            <a:off x="658368" y="4458547"/>
            <a:ext cx="3749040" cy="164592"/>
          </a:xfrm>
          <a:prstGeom prst="rect">
            <a:avLst/>
          </a:prstGeom>
          <a:noFill/>
          <a:ln/>
        </p:spPr>
        <p:txBody>
          <a:bodyPr wrap="square" lIns="0" tIns="0" rIns="0" bIns="0" rtlCol="0" anchor="ctr"/>
          <a:lstStyle/>
          <a:p>
            <a:pPr marL="0" indent="0">
              <a:buNone/>
            </a:pPr>
            <a:r>
              <a:rPr lang="en-US" sz="900" dirty="0">
                <a:solidFill>
                  <a:srgbClr val="8BA3C7"/>
                </a:solidFill>
                <a:latin typeface="Calibri" pitchFamily="34" charset="0"/>
                <a:ea typeface="Calibri" pitchFamily="34" charset="-122"/>
                <a:cs typeface="Calibri" pitchFamily="34" charset="-120"/>
              </a:rPr>
              <a:t>synthesise ranked hypotheses from tool output</a:t>
            </a:r>
            <a:endParaRPr lang="en-US" sz="900" dirty="0"/>
          </a:p>
        </p:txBody>
      </p:sp>
      <p:sp>
        <p:nvSpPr>
          <p:cNvPr id="31" name="Text 1">
            <a:extLst>
              <a:ext uri="{FF2B5EF4-FFF2-40B4-BE49-F238E27FC236}">
                <a16:creationId xmlns:a16="http://schemas.microsoft.com/office/drawing/2014/main" id="{50761001-750E-6B87-C061-5FF41094F2AA}"/>
              </a:ext>
            </a:extLst>
          </p:cNvPr>
          <p:cNvSpPr txBox="1"/>
          <p:nvPr/>
        </p:nvSpPr>
        <p:spPr>
          <a:xfrm>
            <a:off x="411480" y="4406561"/>
            <a:ext cx="8321040" cy="914400"/>
          </a:xfrm>
          <a:prstGeom prst="rect">
            <a:avLst/>
          </a:prstGeom>
          <a:noFill/>
          <a:ln/>
        </p:spPr>
        <p:txBody>
          <a:bodyPr wrap="square" lIns="0" tIns="0" rIns="0" bIns="0" rtlCol="0" anchor="ctr"/>
          <a:lstStyle/>
          <a:p>
            <a:pPr marL="0" indent="0" algn="ctr">
              <a:buNone/>
            </a:pPr>
            <a:r>
              <a:rPr lang="en-US" sz="2600" b="1" dirty="0">
                <a:solidFill>
                  <a:srgbClr val="DDE7F7"/>
                </a:solidFill>
                <a:latin typeface="Cambria" pitchFamily="34" charset="0"/>
                <a:ea typeface="Cambria" pitchFamily="34" charset="-122"/>
                <a:cs typeface="Cambria" pitchFamily="34" charset="-120"/>
              </a:rPr>
              <a:t>No humans in the loop until the report is ready!</a:t>
            </a:r>
            <a:endParaRPr 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par>
                          <p:cTn id="44"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00"/>
                                        <p:tgtEl>
                                          <p:spTgt spid="1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00"/>
                                        <p:tgtEl>
                                          <p:spTgt spid="21"/>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500"/>
                                        <p:tgtEl>
                                          <p:spTgt spid="2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500"/>
                                        <p:tgtEl>
                                          <p:spTgt spid="2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500"/>
                                        <p:tgtEl>
                                          <p:spTgt spid="2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500"/>
                                        <p:tgtEl>
                                          <p:spTgt spid="2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28"/>
                                        </p:tgtEl>
                                        <p:attrNameLst>
                                          <p:attrName>style.visibility</p:attrName>
                                        </p:attrNameLst>
                                      </p:cBhvr>
                                      <p:to>
                                        <p:strVal val="visible"/>
                                      </p:to>
                                    </p:set>
                                    <p:animEffect transition="in" filter="fade">
                                      <p:cBhvr>
                                        <p:cTn id="103" dur="500"/>
                                        <p:tgtEl>
                                          <p:spTgt spid="2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00"/>
                                        <p:tgtEl>
                                          <p:spTgt spid="2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500"/>
                                        <p:tgtEl>
                                          <p:spTgt spid="3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01168"/>
          </a:xfrm>
          <a:prstGeom prst="rect">
            <a:avLst/>
          </a:prstGeom>
          <a:noFill/>
          <a:ln/>
        </p:spPr>
        <p:txBody>
          <a:bodyPr wrap="square" rtlCol="0" anchor="ctr"/>
          <a:lstStyle/>
          <a:p>
            <a:pPr marL="0" indent="0">
              <a:buNone/>
            </a:pPr>
            <a:r>
              <a:rPr lang="en-US" sz="800" kern="0" spc="500" dirty="0">
                <a:solidFill>
                  <a:schemeClr val="tx2"/>
                </a:solidFill>
                <a:latin typeface="Calibri" pitchFamily="34" charset="0"/>
                <a:ea typeface="Calibri" pitchFamily="34" charset="-122"/>
                <a:cs typeface="Calibri" pitchFamily="34" charset="-120"/>
              </a:rPr>
              <a:t>TOOL DESIGN</a:t>
            </a:r>
            <a:endParaRPr lang="en-US" sz="800" dirty="0">
              <a:solidFill>
                <a:schemeClr val="tx2"/>
              </a:solidFill>
            </a:endParaRPr>
          </a:p>
        </p:txBody>
      </p:sp>
      <p:sp>
        <p:nvSpPr>
          <p:cNvPr id="3" name="Text 1"/>
          <p:cNvSpPr txBox="1"/>
          <p:nvPr/>
        </p:nvSpPr>
        <p:spPr>
          <a:xfrm>
            <a:off x="548640" y="612648"/>
            <a:ext cx="8321040" cy="914400"/>
          </a:xfrm>
          <a:prstGeom prst="rect">
            <a:avLst/>
          </a:prstGeom>
          <a:noFill/>
          <a:ln/>
        </p:spPr>
        <p:txBody>
          <a:bodyPr wrap="square" lIns="0" tIns="0" rIns="0" bIns="0" rtlCol="0" anchor="ctr"/>
          <a:lstStyle/>
          <a:p>
            <a:pPr marL="0" indent="0">
              <a:buNone/>
            </a:pPr>
            <a:r>
              <a:rPr lang="en-US" sz="2600" b="1" dirty="0">
                <a:solidFill>
                  <a:srgbClr val="DDE7F7"/>
                </a:solidFill>
                <a:latin typeface="Cambria" pitchFamily="34" charset="0"/>
                <a:ea typeface="Cambria" pitchFamily="34" charset="-122"/>
                <a:cs typeface="Cambria" pitchFamily="34" charset="-120"/>
              </a:rPr>
              <a:t>Useful agents ask small, bounded questions.</a:t>
            </a:r>
            <a:endParaRPr lang="en-US" sz="2600" dirty="0"/>
          </a:p>
        </p:txBody>
      </p:sp>
      <p:sp>
        <p:nvSpPr>
          <p:cNvPr id="4" name="Text 2"/>
          <p:cNvSpPr txBox="1"/>
          <p:nvPr/>
        </p:nvSpPr>
        <p:spPr>
          <a:xfrm>
            <a:off x="548640" y="1389888"/>
            <a:ext cx="594360" cy="310896"/>
          </a:xfrm>
          <a:prstGeom prst="rect">
            <a:avLst/>
          </a:prstGeom>
          <a:noFill/>
          <a:ln/>
        </p:spPr>
        <p:txBody>
          <a:bodyPr wrap="square" lIns="0" tIns="0" rIns="0" bIns="0" rtlCol="0" anchor="ctr"/>
          <a:lstStyle/>
          <a:p>
            <a:pPr marL="0" indent="0">
              <a:buNone/>
            </a:pPr>
            <a:r>
              <a:rPr lang="en-US" sz="1000" dirty="0">
                <a:solidFill>
                  <a:srgbClr val="4F7EFF"/>
                </a:solidFill>
                <a:latin typeface="Courier New" pitchFamily="34" charset="0"/>
                <a:ea typeface="Courier New" pitchFamily="34" charset="-122"/>
                <a:cs typeface="Courier New" pitchFamily="34" charset="-120"/>
              </a:rPr>
              <a:t>01</a:t>
            </a:r>
            <a:endParaRPr lang="en-US" sz="1000" dirty="0"/>
          </a:p>
        </p:txBody>
      </p:sp>
      <p:sp>
        <p:nvSpPr>
          <p:cNvPr id="5" name="Text 3"/>
          <p:cNvSpPr txBox="1"/>
          <p:nvPr/>
        </p:nvSpPr>
        <p:spPr>
          <a:xfrm>
            <a:off x="1097280" y="1389888"/>
            <a:ext cx="7772400" cy="320040"/>
          </a:xfrm>
          <a:prstGeom prst="rect">
            <a:avLst/>
          </a:prstGeom>
          <a:noFill/>
          <a:ln/>
        </p:spPr>
        <p:txBody>
          <a:bodyPr wrap="square" lIns="0" tIns="0" rIns="0" bIns="0" rtlCol="0" anchor="ctr"/>
          <a:lstStyle/>
          <a:p>
            <a:pPr marL="0" indent="0">
              <a:buNone/>
            </a:pPr>
            <a:r>
              <a:rPr lang="en-US" sz="1400" b="1" dirty="0">
                <a:solidFill>
                  <a:srgbClr val="DDE7F7"/>
                </a:solidFill>
                <a:latin typeface="Calibri" pitchFamily="34" charset="0"/>
                <a:ea typeface="Calibri" pitchFamily="34" charset="-122"/>
                <a:cs typeface="Calibri" pitchFamily="34" charset="-120"/>
              </a:rPr>
              <a:t>Deterministic before generative</a:t>
            </a:r>
            <a:endParaRPr lang="en-US" sz="1400" dirty="0"/>
          </a:p>
        </p:txBody>
      </p:sp>
      <p:sp>
        <p:nvSpPr>
          <p:cNvPr id="6" name="Text 4"/>
          <p:cNvSpPr txBox="1"/>
          <p:nvPr/>
        </p:nvSpPr>
        <p:spPr>
          <a:xfrm>
            <a:off x="1097280" y="1737360"/>
            <a:ext cx="7772400" cy="384048"/>
          </a:xfrm>
          <a:prstGeom prst="rect">
            <a:avLst/>
          </a:prstGeom>
          <a:noFill/>
          <a:ln/>
        </p:spPr>
        <p:txBody>
          <a:bodyPr wrap="square" lIns="0" tIns="0" rIns="0" bIns="0" rtlCol="0" anchor="ctr"/>
          <a:lstStyle/>
          <a:p>
            <a:pPr marL="0" indent="0">
              <a:buNone/>
            </a:pPr>
            <a:r>
              <a:rPr lang="en-US" sz="1100" dirty="0">
                <a:solidFill>
                  <a:srgbClr val="8BA3C7"/>
                </a:solidFill>
                <a:latin typeface="Courier New" pitchFamily="34" charset="0"/>
                <a:ea typeface="Courier New" pitchFamily="34" charset="-122"/>
                <a:cs typeface="Courier New" pitchFamily="34" charset="-120"/>
              </a:rPr>
              <a:t>Search tools run first. LLM synthesises last. Never let the model search.</a:t>
            </a:r>
            <a:endParaRPr lang="en-US" sz="1100" dirty="0"/>
          </a:p>
        </p:txBody>
      </p:sp>
      <p:sp>
        <p:nvSpPr>
          <p:cNvPr id="7" name="Shape 5"/>
          <p:cNvSpPr/>
          <p:nvPr/>
        </p:nvSpPr>
        <p:spPr>
          <a:xfrm>
            <a:off x="548640" y="2176272"/>
            <a:ext cx="8229600" cy="0"/>
          </a:xfrm>
          <a:prstGeom prst="line">
            <a:avLst/>
          </a:prstGeom>
          <a:noFill/>
          <a:ln w="6350">
            <a:solidFill>
              <a:srgbClr val="151F35"/>
            </a:solidFill>
            <a:prstDash val="solid"/>
          </a:ln>
        </p:spPr>
        <p:txBody>
          <a:bodyPr/>
          <a:lstStyle/>
          <a:p>
            <a:endParaRPr lang="en-US"/>
          </a:p>
        </p:txBody>
      </p:sp>
      <p:sp>
        <p:nvSpPr>
          <p:cNvPr id="8" name="Text 6"/>
          <p:cNvSpPr txBox="1"/>
          <p:nvPr/>
        </p:nvSpPr>
        <p:spPr>
          <a:xfrm>
            <a:off x="548640" y="2267712"/>
            <a:ext cx="594360" cy="310896"/>
          </a:xfrm>
          <a:prstGeom prst="rect">
            <a:avLst/>
          </a:prstGeom>
          <a:noFill/>
          <a:ln/>
        </p:spPr>
        <p:txBody>
          <a:bodyPr wrap="square" lIns="0" tIns="0" rIns="0" bIns="0" rtlCol="0" anchor="ctr"/>
          <a:lstStyle/>
          <a:p>
            <a:pPr marL="0" indent="0">
              <a:buNone/>
            </a:pPr>
            <a:r>
              <a:rPr lang="en-US" sz="1000" dirty="0">
                <a:solidFill>
                  <a:srgbClr val="4F7EFF"/>
                </a:solidFill>
                <a:latin typeface="Courier New" pitchFamily="34" charset="0"/>
                <a:ea typeface="Courier New" pitchFamily="34" charset="-122"/>
                <a:cs typeface="Courier New" pitchFamily="34" charset="-120"/>
              </a:rPr>
              <a:t>02</a:t>
            </a:r>
            <a:endParaRPr lang="en-US" sz="1000" dirty="0"/>
          </a:p>
        </p:txBody>
      </p:sp>
      <p:sp>
        <p:nvSpPr>
          <p:cNvPr id="9" name="Text 7"/>
          <p:cNvSpPr txBox="1"/>
          <p:nvPr/>
        </p:nvSpPr>
        <p:spPr>
          <a:xfrm>
            <a:off x="1097280" y="2267712"/>
            <a:ext cx="7772400" cy="320040"/>
          </a:xfrm>
          <a:prstGeom prst="rect">
            <a:avLst/>
          </a:prstGeom>
          <a:noFill/>
          <a:ln/>
        </p:spPr>
        <p:txBody>
          <a:bodyPr wrap="square" lIns="0" tIns="0" rIns="0" bIns="0" rtlCol="0" anchor="ctr"/>
          <a:lstStyle/>
          <a:p>
            <a:pPr marL="0" indent="0">
              <a:buNone/>
            </a:pPr>
            <a:r>
              <a:rPr lang="en-US" sz="1400" b="1" dirty="0">
                <a:solidFill>
                  <a:srgbClr val="DDE7F7"/>
                </a:solidFill>
                <a:latin typeface="Calibri" pitchFamily="34" charset="0"/>
                <a:ea typeface="Calibri" pitchFamily="34" charset="-122"/>
                <a:cs typeface="Calibri" pitchFamily="34" charset="-120"/>
              </a:rPr>
              <a:t>One question per tool</a:t>
            </a:r>
            <a:endParaRPr lang="en-US" sz="1400" dirty="0"/>
          </a:p>
        </p:txBody>
      </p:sp>
      <p:sp>
        <p:nvSpPr>
          <p:cNvPr id="10" name="Text 8"/>
          <p:cNvSpPr txBox="1"/>
          <p:nvPr/>
        </p:nvSpPr>
        <p:spPr>
          <a:xfrm>
            <a:off x="1097280" y="2615184"/>
            <a:ext cx="7772400" cy="384048"/>
          </a:xfrm>
          <a:prstGeom prst="rect">
            <a:avLst/>
          </a:prstGeom>
          <a:noFill/>
          <a:ln/>
        </p:spPr>
        <p:txBody>
          <a:bodyPr wrap="square" lIns="0" tIns="0" rIns="0" bIns="0" rtlCol="0" anchor="ctr"/>
          <a:lstStyle/>
          <a:p>
            <a:pPr marL="0" indent="0">
              <a:buNone/>
            </a:pPr>
            <a:r>
              <a:rPr lang="en-US" sz="1100" dirty="0">
                <a:solidFill>
                  <a:srgbClr val="8BA3C7"/>
                </a:solidFill>
                <a:latin typeface="Courier New" pitchFamily="34" charset="0"/>
                <a:ea typeface="Courier New" pitchFamily="34" charset="-122"/>
                <a:cs typeface="Courier New" pitchFamily="34" charset="-120"/>
              </a:rPr>
              <a:t>Each tool answers exactly one thing. Overlap creates hallucinated confidence.</a:t>
            </a:r>
            <a:endParaRPr lang="en-US" sz="1100" dirty="0"/>
          </a:p>
        </p:txBody>
      </p:sp>
      <p:sp>
        <p:nvSpPr>
          <p:cNvPr id="11" name="Shape 9"/>
          <p:cNvSpPr/>
          <p:nvPr/>
        </p:nvSpPr>
        <p:spPr>
          <a:xfrm>
            <a:off x="548640" y="3054096"/>
            <a:ext cx="8229600" cy="0"/>
          </a:xfrm>
          <a:prstGeom prst="line">
            <a:avLst/>
          </a:prstGeom>
          <a:noFill/>
          <a:ln w="6350">
            <a:solidFill>
              <a:srgbClr val="151F35"/>
            </a:solidFill>
            <a:prstDash val="solid"/>
          </a:ln>
        </p:spPr>
        <p:txBody>
          <a:bodyPr/>
          <a:lstStyle/>
          <a:p>
            <a:endParaRPr lang="en-US"/>
          </a:p>
        </p:txBody>
      </p:sp>
      <p:sp>
        <p:nvSpPr>
          <p:cNvPr id="12" name="Text 10"/>
          <p:cNvSpPr txBox="1"/>
          <p:nvPr/>
        </p:nvSpPr>
        <p:spPr>
          <a:xfrm>
            <a:off x="548640" y="3145536"/>
            <a:ext cx="594360" cy="310896"/>
          </a:xfrm>
          <a:prstGeom prst="rect">
            <a:avLst/>
          </a:prstGeom>
          <a:noFill/>
          <a:ln/>
        </p:spPr>
        <p:txBody>
          <a:bodyPr wrap="square" lIns="0" tIns="0" rIns="0" bIns="0" rtlCol="0" anchor="ctr"/>
          <a:lstStyle/>
          <a:p>
            <a:pPr marL="0" indent="0">
              <a:buNone/>
            </a:pPr>
            <a:r>
              <a:rPr lang="en-US" sz="1000" dirty="0">
                <a:solidFill>
                  <a:srgbClr val="4F7EFF"/>
                </a:solidFill>
                <a:latin typeface="Courier New" pitchFamily="34" charset="0"/>
                <a:ea typeface="Courier New" pitchFamily="34" charset="-122"/>
                <a:cs typeface="Courier New" pitchFamily="34" charset="-120"/>
              </a:rPr>
              <a:t>03</a:t>
            </a:r>
            <a:endParaRPr lang="en-US" sz="1000" dirty="0"/>
          </a:p>
        </p:txBody>
      </p:sp>
      <p:sp>
        <p:nvSpPr>
          <p:cNvPr id="13" name="Text 11"/>
          <p:cNvSpPr txBox="1"/>
          <p:nvPr/>
        </p:nvSpPr>
        <p:spPr>
          <a:xfrm>
            <a:off x="1097280" y="3145536"/>
            <a:ext cx="7772400" cy="320040"/>
          </a:xfrm>
          <a:prstGeom prst="rect">
            <a:avLst/>
          </a:prstGeom>
          <a:noFill/>
          <a:ln/>
        </p:spPr>
        <p:txBody>
          <a:bodyPr wrap="square" lIns="0" tIns="0" rIns="0" bIns="0" rtlCol="0" anchor="ctr"/>
          <a:lstStyle/>
          <a:p>
            <a:pPr marL="0" indent="0">
              <a:buNone/>
            </a:pPr>
            <a:r>
              <a:rPr lang="en-US" sz="1400" b="1" dirty="0">
                <a:solidFill>
                  <a:srgbClr val="DDE7F7"/>
                </a:solidFill>
                <a:latin typeface="Calibri" pitchFamily="34" charset="0"/>
                <a:ea typeface="Calibri" pitchFamily="34" charset="-122"/>
                <a:cs typeface="Calibri" pitchFamily="34" charset="-120"/>
              </a:rPr>
              <a:t>Fail fast and transparently</a:t>
            </a:r>
            <a:endParaRPr lang="en-US" sz="1400" dirty="0"/>
          </a:p>
        </p:txBody>
      </p:sp>
      <p:sp>
        <p:nvSpPr>
          <p:cNvPr id="14" name="Text 12"/>
          <p:cNvSpPr txBox="1"/>
          <p:nvPr/>
        </p:nvSpPr>
        <p:spPr>
          <a:xfrm>
            <a:off x="1097280" y="3493008"/>
            <a:ext cx="7772400" cy="384048"/>
          </a:xfrm>
          <a:prstGeom prst="rect">
            <a:avLst/>
          </a:prstGeom>
          <a:noFill/>
          <a:ln/>
        </p:spPr>
        <p:txBody>
          <a:bodyPr wrap="square" lIns="0" tIns="0" rIns="0" bIns="0" rtlCol="0" anchor="ctr"/>
          <a:lstStyle/>
          <a:p>
            <a:pPr marL="0" indent="0">
              <a:buNone/>
            </a:pPr>
            <a:r>
              <a:rPr lang="en-US" sz="1100" dirty="0">
                <a:solidFill>
                  <a:srgbClr val="8BA3C7"/>
                </a:solidFill>
                <a:latin typeface="Courier New" pitchFamily="34" charset="0"/>
                <a:ea typeface="Courier New" pitchFamily="34" charset="-122"/>
                <a:cs typeface="Courier New" pitchFamily="34" charset="-120"/>
              </a:rPr>
              <a:t>An empty result is information. A hallucinated one is a pager storm waiting to happen.</a:t>
            </a:r>
            <a:endParaRPr lang="en-US" sz="1100" dirty="0"/>
          </a:p>
        </p:txBody>
      </p:sp>
      <p:sp>
        <p:nvSpPr>
          <p:cNvPr id="15" name="Shape 13"/>
          <p:cNvSpPr/>
          <p:nvPr/>
        </p:nvSpPr>
        <p:spPr>
          <a:xfrm>
            <a:off x="548640" y="3931920"/>
            <a:ext cx="8229600" cy="0"/>
          </a:xfrm>
          <a:prstGeom prst="line">
            <a:avLst/>
          </a:prstGeom>
          <a:noFill/>
          <a:ln w="6350">
            <a:solidFill>
              <a:srgbClr val="151F35"/>
            </a:solidFill>
            <a:prstDash val="solid"/>
          </a:ln>
        </p:spPr>
        <p:txBody>
          <a:bodyPr/>
          <a:lstStyle/>
          <a:p>
            <a:endParaRPr lang="en-US"/>
          </a:p>
        </p:txBody>
      </p:sp>
      <p:sp>
        <p:nvSpPr>
          <p:cNvPr id="16" name="Text 14"/>
          <p:cNvSpPr txBox="1"/>
          <p:nvPr/>
        </p:nvSpPr>
        <p:spPr>
          <a:xfrm>
            <a:off x="548640" y="4023360"/>
            <a:ext cx="594360" cy="310896"/>
          </a:xfrm>
          <a:prstGeom prst="rect">
            <a:avLst/>
          </a:prstGeom>
          <a:noFill/>
          <a:ln/>
        </p:spPr>
        <p:txBody>
          <a:bodyPr wrap="square" lIns="0" tIns="0" rIns="0" bIns="0" rtlCol="0" anchor="ctr"/>
          <a:lstStyle/>
          <a:p>
            <a:pPr marL="0" indent="0">
              <a:buNone/>
            </a:pPr>
            <a:r>
              <a:rPr lang="en-US" sz="1000" dirty="0">
                <a:solidFill>
                  <a:srgbClr val="4F7EFF"/>
                </a:solidFill>
                <a:latin typeface="Courier New" pitchFamily="34" charset="0"/>
                <a:ea typeface="Courier New" pitchFamily="34" charset="-122"/>
                <a:cs typeface="Courier New" pitchFamily="34" charset="-120"/>
              </a:rPr>
              <a:t>04</a:t>
            </a:r>
            <a:endParaRPr lang="en-US" sz="1000" dirty="0"/>
          </a:p>
        </p:txBody>
      </p:sp>
      <p:sp>
        <p:nvSpPr>
          <p:cNvPr id="17" name="Text 15"/>
          <p:cNvSpPr txBox="1"/>
          <p:nvPr/>
        </p:nvSpPr>
        <p:spPr>
          <a:xfrm>
            <a:off x="1097280" y="4023360"/>
            <a:ext cx="7772400" cy="320040"/>
          </a:xfrm>
          <a:prstGeom prst="rect">
            <a:avLst/>
          </a:prstGeom>
          <a:noFill/>
          <a:ln/>
        </p:spPr>
        <p:txBody>
          <a:bodyPr wrap="square" lIns="0" tIns="0" rIns="0" bIns="0" rtlCol="0" anchor="ctr"/>
          <a:lstStyle/>
          <a:p>
            <a:pPr marL="0" indent="0">
              <a:buNone/>
            </a:pPr>
            <a:r>
              <a:rPr lang="en-US" sz="1400" b="1" dirty="0">
                <a:solidFill>
                  <a:srgbClr val="DDE7F7"/>
                </a:solidFill>
                <a:latin typeface="Calibri" pitchFamily="34" charset="0"/>
                <a:ea typeface="Calibri" pitchFamily="34" charset="-122"/>
                <a:cs typeface="Calibri" pitchFamily="34" charset="-120"/>
              </a:rPr>
              <a:t>Time-bound every query to the anomaly window</a:t>
            </a:r>
            <a:endParaRPr lang="en-US" sz="1400" dirty="0"/>
          </a:p>
        </p:txBody>
      </p:sp>
      <p:sp>
        <p:nvSpPr>
          <p:cNvPr id="18" name="Text 16"/>
          <p:cNvSpPr txBox="1"/>
          <p:nvPr/>
        </p:nvSpPr>
        <p:spPr>
          <a:xfrm>
            <a:off x="1097280" y="4370832"/>
            <a:ext cx="7772400" cy="384048"/>
          </a:xfrm>
          <a:prstGeom prst="rect">
            <a:avLst/>
          </a:prstGeom>
          <a:noFill/>
          <a:ln/>
        </p:spPr>
        <p:txBody>
          <a:bodyPr wrap="square" lIns="0" tIns="0" rIns="0" bIns="0" rtlCol="0" anchor="ctr"/>
          <a:lstStyle/>
          <a:p>
            <a:pPr marL="0" indent="0">
              <a:buNone/>
            </a:pPr>
            <a:r>
              <a:rPr lang="en-US" sz="1100" dirty="0">
                <a:solidFill>
                  <a:srgbClr val="8BA3C7"/>
                </a:solidFill>
                <a:latin typeface="Courier New" pitchFamily="34" charset="0"/>
                <a:ea typeface="Courier New" pitchFamily="34" charset="-122"/>
                <a:cs typeface="Courier New" pitchFamily="34" charset="-120"/>
              </a:rPr>
              <a:t>now-10m is not a guess — it's the anomaly detection window. Use it or get noise.</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par>
                          <p:cTn id="52" fill="hold">
                            <p:stCondLst>
                              <p:cond delay="1000"/>
                            </p:stCondLst>
                            <p:childTnLst>
                              <p:par>
                                <p:cTn id="53" presetID="10"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childTnLst>
                          </p:cTn>
                        </p:par>
                        <p:par>
                          <p:cTn id="64" fill="hold">
                            <p:stCondLst>
                              <p:cond delay="500"/>
                            </p:stCondLst>
                            <p:childTnLst>
                              <p:par>
                                <p:cTn id="65" presetID="10" presetClass="entr" presetSubtype="0" fill="hold" grpId="0" nodeType="after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01168"/>
          </a:xfrm>
          <a:prstGeom prst="rect">
            <a:avLst/>
          </a:prstGeom>
          <a:noFill/>
          <a:ln/>
        </p:spPr>
        <p:txBody>
          <a:bodyPr wrap="square" rtlCol="0" anchor="ctr"/>
          <a:lstStyle/>
          <a:p>
            <a:pPr marL="0" indent="0">
              <a:buNone/>
            </a:pPr>
            <a:r>
              <a:rPr lang="en-US" sz="800" kern="0" spc="500" dirty="0">
                <a:solidFill>
                  <a:schemeClr val="tx2"/>
                </a:solidFill>
                <a:latin typeface="Calibri" pitchFamily="34" charset="0"/>
                <a:ea typeface="Calibri" pitchFamily="34" charset="-122"/>
                <a:cs typeface="Calibri" pitchFamily="34" charset="-120"/>
              </a:rPr>
              <a:t>IN PRACTICE</a:t>
            </a:r>
            <a:endParaRPr lang="en-US" sz="800" dirty="0">
              <a:solidFill>
                <a:schemeClr val="tx2"/>
              </a:solidFill>
            </a:endParaRPr>
          </a:p>
        </p:txBody>
      </p:sp>
      <p:sp>
        <p:nvSpPr>
          <p:cNvPr id="3" name="Text 1"/>
          <p:cNvSpPr txBox="1"/>
          <p:nvPr/>
        </p:nvSpPr>
        <p:spPr>
          <a:xfrm>
            <a:off x="548640" y="612648"/>
            <a:ext cx="8321040" cy="914400"/>
          </a:xfrm>
          <a:prstGeom prst="rect">
            <a:avLst/>
          </a:prstGeom>
          <a:noFill/>
          <a:ln/>
        </p:spPr>
        <p:txBody>
          <a:bodyPr wrap="square" lIns="0" tIns="0" rIns="0" bIns="0" rtlCol="0" anchor="ctr"/>
          <a:lstStyle/>
          <a:p>
            <a:pPr marL="0" indent="0">
              <a:buNone/>
            </a:pPr>
            <a:r>
              <a:rPr lang="en-US" sz="2600" b="1" dirty="0">
                <a:solidFill>
                  <a:srgbClr val="DDE7F7"/>
                </a:solidFill>
                <a:latin typeface="Cambria" pitchFamily="34" charset="0"/>
                <a:ea typeface="Cambria" pitchFamily="34" charset="-122"/>
                <a:cs typeface="Cambria" pitchFamily="34" charset="-120"/>
              </a:rPr>
              <a:t>02:14 AM. Agent triggered.</a:t>
            </a:r>
            <a:endParaRPr lang="en-US" sz="2600" dirty="0"/>
          </a:p>
        </p:txBody>
      </p:sp>
      <p:sp>
        <p:nvSpPr>
          <p:cNvPr id="4" name="Shape 2"/>
          <p:cNvSpPr/>
          <p:nvPr/>
        </p:nvSpPr>
        <p:spPr>
          <a:xfrm>
            <a:off x="457200" y="1298448"/>
            <a:ext cx="8412480" cy="3474720"/>
          </a:xfrm>
          <a:prstGeom prst="roundRect">
            <a:avLst>
              <a:gd name="adj" fmla="val 2632"/>
            </a:avLst>
          </a:prstGeom>
          <a:solidFill>
            <a:srgbClr val="050810"/>
          </a:solidFill>
          <a:ln w="10160">
            <a:solidFill>
              <a:srgbClr val="1A2640"/>
            </a:solidFill>
            <a:prstDash val="solid"/>
          </a:ln>
        </p:spPr>
        <p:txBody>
          <a:bodyPr/>
          <a:lstStyle/>
          <a:p>
            <a:endParaRPr lang="en-US"/>
          </a:p>
        </p:txBody>
      </p:sp>
      <p:sp>
        <p:nvSpPr>
          <p:cNvPr id="5" name="Shape 3"/>
          <p:cNvSpPr/>
          <p:nvPr/>
        </p:nvSpPr>
        <p:spPr>
          <a:xfrm>
            <a:off x="685800" y="1435608"/>
            <a:ext cx="118872" cy="118872"/>
          </a:xfrm>
          <a:prstGeom prst="ellipse">
            <a:avLst/>
          </a:prstGeom>
          <a:solidFill>
            <a:srgbClr val="FF6130"/>
          </a:solidFill>
          <a:ln w="12700">
            <a:solidFill>
              <a:srgbClr val="050810"/>
            </a:solidFill>
            <a:prstDash val="solid"/>
          </a:ln>
        </p:spPr>
        <p:txBody>
          <a:bodyPr/>
          <a:lstStyle/>
          <a:p>
            <a:endParaRPr lang="en-US"/>
          </a:p>
        </p:txBody>
      </p:sp>
      <p:sp>
        <p:nvSpPr>
          <p:cNvPr id="6" name="Shape 4"/>
          <p:cNvSpPr/>
          <p:nvPr/>
        </p:nvSpPr>
        <p:spPr>
          <a:xfrm>
            <a:off x="886968" y="1435608"/>
            <a:ext cx="118872" cy="118872"/>
          </a:xfrm>
          <a:prstGeom prst="ellipse">
            <a:avLst/>
          </a:prstGeom>
          <a:solidFill>
            <a:srgbClr val="2A3D58"/>
          </a:solidFill>
          <a:ln w="12700">
            <a:solidFill>
              <a:srgbClr val="050810"/>
            </a:solidFill>
            <a:prstDash val="solid"/>
          </a:ln>
        </p:spPr>
        <p:txBody>
          <a:bodyPr/>
          <a:lstStyle/>
          <a:p>
            <a:endParaRPr lang="en-US"/>
          </a:p>
        </p:txBody>
      </p:sp>
      <p:sp>
        <p:nvSpPr>
          <p:cNvPr id="7" name="Shape 5"/>
          <p:cNvSpPr/>
          <p:nvPr/>
        </p:nvSpPr>
        <p:spPr>
          <a:xfrm>
            <a:off x="1088136" y="1435608"/>
            <a:ext cx="118872" cy="118872"/>
          </a:xfrm>
          <a:prstGeom prst="ellipse">
            <a:avLst/>
          </a:prstGeom>
          <a:solidFill>
            <a:srgbClr val="00C8A0"/>
          </a:solidFill>
          <a:ln w="12700">
            <a:solidFill>
              <a:srgbClr val="050810"/>
            </a:solidFill>
            <a:prstDash val="solid"/>
          </a:ln>
        </p:spPr>
        <p:txBody>
          <a:bodyPr/>
          <a:lstStyle/>
          <a:p>
            <a:endParaRPr lang="en-US"/>
          </a:p>
        </p:txBody>
      </p:sp>
      <p:sp>
        <p:nvSpPr>
          <p:cNvPr id="8" name="Text 6"/>
          <p:cNvSpPr txBox="1"/>
          <p:nvPr/>
        </p:nvSpPr>
        <p:spPr>
          <a:xfrm>
            <a:off x="640080" y="162763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02:14:32  </a:t>
            </a:r>
            <a:r>
              <a:rPr lang="en-US" sz="850" b="1" dirty="0">
                <a:solidFill>
                  <a:srgbClr val="FF6130"/>
                </a:solidFill>
                <a:latin typeface="Courier New" pitchFamily="34" charset="0"/>
                <a:ea typeface="Courier New" pitchFamily="34" charset="-122"/>
                <a:cs typeface="Courier New" pitchFamily="34" charset="-120"/>
              </a:rPr>
              <a:t>ALERT</a:t>
            </a:r>
            <a:r>
              <a:rPr lang="en-US" sz="850" dirty="0">
                <a:solidFill>
                  <a:srgbClr val="DDE7F7"/>
                </a:solidFill>
                <a:latin typeface="Courier New" pitchFamily="34" charset="0"/>
                <a:ea typeface="Courier New" pitchFamily="34" charset="-122"/>
                <a:cs typeface="Courier New" pitchFamily="34" charset="-120"/>
              </a:rPr>
              <a:t>   anomaly grade 0.89 · feature p99_latency_ms · service payment-service</a:t>
            </a:r>
            <a:endParaRPr lang="en-US" sz="850" dirty="0"/>
          </a:p>
        </p:txBody>
      </p:sp>
      <p:sp>
        <p:nvSpPr>
          <p:cNvPr id="9" name="Text 7"/>
          <p:cNvSpPr txBox="1"/>
          <p:nvPr/>
        </p:nvSpPr>
        <p:spPr>
          <a:xfrm>
            <a:off x="640080" y="190195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02:14:33  </a:t>
            </a:r>
            <a:r>
              <a:rPr lang="en-US" sz="850" b="1" dirty="0">
                <a:solidFill>
                  <a:srgbClr val="4F7EFF"/>
                </a:solidFill>
                <a:latin typeface="Courier New" pitchFamily="34" charset="0"/>
                <a:ea typeface="Courier New" pitchFamily="34" charset="-122"/>
                <a:cs typeface="Courier New" pitchFamily="34" charset="-120"/>
              </a:rPr>
              <a:t>AGENT</a:t>
            </a:r>
            <a:r>
              <a:rPr lang="en-US" sz="850" dirty="0">
                <a:solidFill>
                  <a:srgbClr val="8BA3C7"/>
                </a:solidFill>
                <a:latin typeface="Courier New" pitchFamily="34" charset="0"/>
                <a:ea typeface="Courier New" pitchFamily="34" charset="-122"/>
                <a:cs typeface="Courier New" pitchFamily="34" charset="-120"/>
              </a:rPr>
              <a:t>   flow agent triggered via webhook</a:t>
            </a:r>
            <a:endParaRPr lang="en-US" sz="850" dirty="0"/>
          </a:p>
        </p:txBody>
      </p:sp>
      <p:sp>
        <p:nvSpPr>
          <p:cNvPr id="10" name="Text 8"/>
          <p:cNvSpPr txBox="1"/>
          <p:nvPr/>
        </p:nvSpPr>
        <p:spPr>
          <a:xfrm>
            <a:off x="640080" y="217627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02:14:33    ▸  </a:t>
            </a:r>
            <a:r>
              <a:rPr lang="en-US" sz="850" dirty="0">
                <a:solidFill>
                  <a:srgbClr val="8BA3C7"/>
                </a:solidFill>
                <a:latin typeface="Courier New" pitchFamily="34" charset="0"/>
                <a:ea typeface="Courier New" pitchFamily="34" charset="-122"/>
                <a:cs typeface="Courier New" pitchFamily="34" charset="-120"/>
              </a:rPr>
              <a:t>SearchAnomalyResultsTool    querying prod-metrics …          47ms</a:t>
            </a:r>
            <a:endParaRPr lang="en-US" sz="850" dirty="0"/>
          </a:p>
        </p:txBody>
      </p:sp>
      <p:sp>
        <p:nvSpPr>
          <p:cNvPr id="11" name="Text 9"/>
          <p:cNvSpPr txBox="1"/>
          <p:nvPr/>
        </p:nvSpPr>
        <p:spPr>
          <a:xfrm>
            <a:off x="640080" y="245059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02:14:33    ▸  </a:t>
            </a:r>
            <a:r>
              <a:rPr lang="en-US" sz="850" dirty="0">
                <a:solidFill>
                  <a:srgbClr val="8BA3C7"/>
                </a:solidFill>
                <a:latin typeface="Courier New" pitchFamily="34" charset="0"/>
                <a:ea typeface="Courier New" pitchFamily="34" charset="-122"/>
                <a:cs typeface="Courier New" pitchFamily="34" charset="-120"/>
              </a:rPr>
              <a:t>SearchIndexTool (prod-logs)  now-10m, ERROR/WARN …         112ms</a:t>
            </a:r>
            <a:endParaRPr lang="en-US" sz="850" dirty="0"/>
          </a:p>
        </p:txBody>
      </p:sp>
      <p:sp>
        <p:nvSpPr>
          <p:cNvPr id="12" name="Text 10"/>
          <p:cNvSpPr txBox="1"/>
          <p:nvPr/>
        </p:nvSpPr>
        <p:spPr>
          <a:xfrm>
            <a:off x="640080" y="272491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02:14:33    ▸  </a:t>
            </a:r>
            <a:r>
              <a:rPr lang="en-US" sz="850" dirty="0">
                <a:solidFill>
                  <a:srgbClr val="8BA3C7"/>
                </a:solidFill>
                <a:latin typeface="Courier New" pitchFamily="34" charset="0"/>
                <a:ea typeface="Courier New" pitchFamily="34" charset="-122"/>
                <a:cs typeface="Courier New" pitchFamily="34" charset="-120"/>
              </a:rPr>
              <a:t>SearchIndexTool (deploys)    now-60m …                       89ms</a:t>
            </a:r>
            <a:endParaRPr lang="en-US" sz="850" dirty="0"/>
          </a:p>
        </p:txBody>
      </p:sp>
      <p:sp>
        <p:nvSpPr>
          <p:cNvPr id="13" name="Text 11"/>
          <p:cNvSpPr txBox="1"/>
          <p:nvPr/>
        </p:nvSpPr>
        <p:spPr>
          <a:xfrm>
            <a:off x="640080" y="299923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02:14:34    ▸  </a:t>
            </a:r>
            <a:r>
              <a:rPr lang="en-US" sz="850" dirty="0">
                <a:solidFill>
                  <a:srgbClr val="8BA3C7"/>
                </a:solidFill>
                <a:latin typeface="Courier New" pitchFamily="34" charset="0"/>
                <a:ea typeface="Courier New" pitchFamily="34" charset="-122"/>
                <a:cs typeface="Courier New" pitchFamily="34" charset="-120"/>
              </a:rPr>
              <a:t>LogPatternTool               clustering 847 log lines …     203ms</a:t>
            </a:r>
            <a:endParaRPr lang="en-US" sz="850" dirty="0"/>
          </a:p>
        </p:txBody>
      </p:sp>
      <p:sp>
        <p:nvSpPr>
          <p:cNvPr id="14" name="Text 12"/>
          <p:cNvSpPr txBox="1"/>
          <p:nvPr/>
        </p:nvSpPr>
        <p:spPr>
          <a:xfrm>
            <a:off x="640080" y="327355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02:14:34    ▸  </a:t>
            </a:r>
            <a:r>
              <a:rPr lang="en-US" sz="850" dirty="0">
                <a:solidFill>
                  <a:srgbClr val="8BA3C7"/>
                </a:solidFill>
                <a:latin typeface="Courier New" pitchFamily="34" charset="0"/>
                <a:ea typeface="Courier New" pitchFamily="34" charset="-122"/>
                <a:cs typeface="Courier New" pitchFamily="34" charset="-120"/>
              </a:rPr>
              <a:t>MLModelTool                  synthesising …                  1.2s</a:t>
            </a:r>
            <a:endParaRPr lang="en-US" sz="850" dirty="0"/>
          </a:p>
        </p:txBody>
      </p:sp>
      <p:sp>
        <p:nvSpPr>
          <p:cNvPr id="15" name="Text 13"/>
          <p:cNvSpPr txBox="1"/>
          <p:nvPr/>
        </p:nvSpPr>
        <p:spPr>
          <a:xfrm>
            <a:off x="640080" y="354787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02:14:35  </a:t>
            </a:r>
            <a:r>
              <a:rPr lang="en-US" sz="850" b="1" dirty="0">
                <a:solidFill>
                  <a:srgbClr val="00C8A0"/>
                </a:solidFill>
                <a:latin typeface="Courier New" pitchFamily="34" charset="0"/>
                <a:ea typeface="Courier New" pitchFamily="34" charset="-122"/>
                <a:cs typeface="Courier New" pitchFamily="34" charset="-120"/>
              </a:rPr>
              <a:t>REPORT</a:t>
            </a:r>
            <a:r>
              <a:rPr lang="en-US" sz="850" b="1" dirty="0">
                <a:solidFill>
                  <a:srgbClr val="DDE7F7"/>
                </a:solidFill>
                <a:latin typeface="Courier New" pitchFamily="34" charset="0"/>
                <a:ea typeface="Courier New" pitchFamily="34" charset="-122"/>
                <a:cs typeface="Courier New" pitchFamily="34" charset="-120"/>
              </a:rPr>
              <a:t>  HIGH CONFIDENCE — deploy-induced regression</a:t>
            </a:r>
            <a:endParaRPr lang="en-US" sz="850" dirty="0"/>
          </a:p>
        </p:txBody>
      </p:sp>
      <p:sp>
        <p:nvSpPr>
          <p:cNvPr id="16" name="Text 14"/>
          <p:cNvSpPr txBox="1"/>
          <p:nvPr/>
        </p:nvSpPr>
        <p:spPr>
          <a:xfrm>
            <a:off x="640080" y="382219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          </a:t>
            </a:r>
            <a:r>
              <a:rPr lang="en-US" sz="850" dirty="0">
                <a:solidFill>
                  <a:srgbClr val="8BA3C7"/>
                </a:solidFill>
                <a:latin typeface="Courier New" pitchFamily="34" charset="0"/>
                <a:ea typeface="Courier New" pitchFamily="34" charset="-122"/>
                <a:cs typeface="Courier New" pitchFamily="34" charset="-120"/>
              </a:rPr>
              <a:t>        payment-service v2.4.1 → v2.4.2 deployed 02:08 UTC</a:t>
            </a:r>
            <a:endParaRPr lang="en-US" sz="850" dirty="0"/>
          </a:p>
        </p:txBody>
      </p:sp>
      <p:sp>
        <p:nvSpPr>
          <p:cNvPr id="17" name="Text 15"/>
          <p:cNvSpPr txBox="1"/>
          <p:nvPr/>
        </p:nvSpPr>
        <p:spPr>
          <a:xfrm>
            <a:off x="640080" y="409651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          </a:t>
            </a:r>
            <a:r>
              <a:rPr lang="en-US" sz="850" dirty="0">
                <a:solidFill>
                  <a:srgbClr val="8BA3C7"/>
                </a:solidFill>
                <a:latin typeface="Courier New" pitchFamily="34" charset="0"/>
                <a:ea typeface="Courier New" pitchFamily="34" charset="-122"/>
                <a:cs typeface="Courier New" pitchFamily="34" charset="-120"/>
              </a:rPr>
              <a:t>        pattern: "database connection pool exhausted" (62% of errors)</a:t>
            </a:r>
            <a:endParaRPr lang="en-US" sz="850" dirty="0"/>
          </a:p>
        </p:txBody>
      </p:sp>
      <p:sp>
        <p:nvSpPr>
          <p:cNvPr id="18" name="Text 16"/>
          <p:cNvSpPr txBox="1"/>
          <p:nvPr/>
        </p:nvSpPr>
        <p:spPr>
          <a:xfrm>
            <a:off x="640080" y="4370832"/>
            <a:ext cx="8229600" cy="256032"/>
          </a:xfrm>
          <a:prstGeom prst="rect">
            <a:avLst/>
          </a:prstGeom>
          <a:noFill/>
          <a:ln/>
        </p:spPr>
        <p:txBody>
          <a:bodyPr wrap="square" lIns="0" tIns="0" rIns="0" bIns="0" rtlCol="0" anchor="ctr"/>
          <a:lstStyle/>
          <a:p>
            <a:pPr marL="0" indent="0">
              <a:buNone/>
            </a:pPr>
            <a:r>
              <a:rPr lang="en-US" sz="850" dirty="0">
                <a:solidFill>
                  <a:srgbClr val="2A3D58"/>
                </a:solidFill>
                <a:latin typeface="Courier New" pitchFamily="34" charset="0"/>
                <a:ea typeface="Courier New" pitchFamily="34" charset="-122"/>
                <a:cs typeface="Courier New" pitchFamily="34" charset="-120"/>
              </a:rPr>
              <a:t>          </a:t>
            </a:r>
            <a:r>
              <a:rPr lang="en-US" sz="850" dirty="0">
                <a:solidFill>
                  <a:srgbClr val="8BA3C7"/>
                </a:solidFill>
                <a:latin typeface="Courier New" pitchFamily="34" charset="0"/>
                <a:ea typeface="Courier New" pitchFamily="34" charset="-122"/>
                <a:cs typeface="Courier New" pitchFamily="34" charset="-120"/>
              </a:rPr>
              <a:t>        recommendation: rollback or increase pool size (max_conn: 20 → 100)</a:t>
            </a:r>
            <a:endParaRPr lang="en-US" sz="8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01168"/>
          </a:xfrm>
          <a:prstGeom prst="rect">
            <a:avLst/>
          </a:prstGeom>
          <a:noFill/>
          <a:ln/>
        </p:spPr>
        <p:txBody>
          <a:bodyPr wrap="square" rtlCol="0" anchor="ctr"/>
          <a:lstStyle/>
          <a:p>
            <a:pPr marL="0" indent="0">
              <a:buNone/>
            </a:pPr>
            <a:r>
              <a:rPr lang="en-US" sz="800" kern="0" spc="500" dirty="0">
                <a:solidFill>
                  <a:schemeClr val="tx2"/>
                </a:solidFill>
                <a:latin typeface="Calibri" pitchFamily="34" charset="0"/>
                <a:ea typeface="Calibri" pitchFamily="34" charset="-122"/>
                <a:cs typeface="Calibri" pitchFamily="34" charset="-120"/>
              </a:rPr>
              <a:t>PRODUCTION REALITY</a:t>
            </a:r>
            <a:endParaRPr lang="en-US" sz="800" dirty="0">
              <a:solidFill>
                <a:schemeClr val="tx2"/>
              </a:solidFill>
            </a:endParaRPr>
          </a:p>
        </p:txBody>
      </p:sp>
      <p:sp>
        <p:nvSpPr>
          <p:cNvPr id="3" name="Text 1"/>
          <p:cNvSpPr txBox="1"/>
          <p:nvPr/>
        </p:nvSpPr>
        <p:spPr>
          <a:xfrm>
            <a:off x="548640" y="612648"/>
            <a:ext cx="8321040" cy="914400"/>
          </a:xfrm>
          <a:prstGeom prst="rect">
            <a:avLst/>
          </a:prstGeom>
          <a:noFill/>
          <a:ln/>
        </p:spPr>
        <p:txBody>
          <a:bodyPr wrap="square" lIns="0" tIns="0" rIns="0" bIns="0" rtlCol="0" anchor="ctr"/>
          <a:lstStyle/>
          <a:p>
            <a:pPr marL="0" indent="0">
              <a:buNone/>
            </a:pPr>
            <a:r>
              <a:rPr lang="en-US" sz="2600" b="1" dirty="0">
                <a:solidFill>
                  <a:srgbClr val="DDE7F7"/>
                </a:solidFill>
                <a:latin typeface="Cambria" pitchFamily="34" charset="0"/>
                <a:ea typeface="Cambria" pitchFamily="34" charset="-122"/>
                <a:cs typeface="Cambria" pitchFamily="34" charset="-120"/>
              </a:rPr>
              <a:t>The things that will humble you.</a:t>
            </a:r>
            <a:endParaRPr lang="en-US" sz="2600" dirty="0"/>
          </a:p>
        </p:txBody>
      </p:sp>
      <p:sp>
        <p:nvSpPr>
          <p:cNvPr id="4" name="Shape 2"/>
          <p:cNvSpPr/>
          <p:nvPr/>
        </p:nvSpPr>
        <p:spPr>
          <a:xfrm>
            <a:off x="548640" y="1298448"/>
            <a:ext cx="8321040" cy="612648"/>
          </a:xfrm>
          <a:prstGeom prst="roundRect">
            <a:avLst>
              <a:gd name="adj" fmla="val 7463"/>
            </a:avLst>
          </a:prstGeom>
          <a:solidFill>
            <a:srgbClr val="0F1829"/>
          </a:solidFill>
          <a:ln w="6350">
            <a:solidFill>
              <a:srgbClr val="172035"/>
            </a:solidFill>
            <a:prstDash val="solid"/>
          </a:ln>
        </p:spPr>
        <p:txBody>
          <a:bodyPr/>
          <a:lstStyle/>
          <a:p>
            <a:endParaRPr lang="en-US"/>
          </a:p>
        </p:txBody>
      </p:sp>
      <p:sp>
        <p:nvSpPr>
          <p:cNvPr id="5" name="Shape 3"/>
          <p:cNvSpPr/>
          <p:nvPr/>
        </p:nvSpPr>
        <p:spPr>
          <a:xfrm>
            <a:off x="548640" y="1298448"/>
            <a:ext cx="64008" cy="612648"/>
          </a:xfrm>
          <a:prstGeom prst="rect">
            <a:avLst/>
          </a:prstGeom>
          <a:solidFill>
            <a:srgbClr val="FF6130"/>
          </a:solidFill>
          <a:ln w="12700">
            <a:solidFill>
              <a:srgbClr val="FF6130"/>
            </a:solidFill>
            <a:prstDash val="solid"/>
          </a:ln>
        </p:spPr>
        <p:txBody>
          <a:bodyPr/>
          <a:lstStyle/>
          <a:p>
            <a:endParaRPr lang="en-US"/>
          </a:p>
        </p:txBody>
      </p:sp>
      <p:sp>
        <p:nvSpPr>
          <p:cNvPr id="6" name="Text 4"/>
          <p:cNvSpPr txBox="1"/>
          <p:nvPr/>
        </p:nvSpPr>
        <p:spPr>
          <a:xfrm>
            <a:off x="749808" y="1362456"/>
            <a:ext cx="7955280" cy="246888"/>
          </a:xfrm>
          <a:prstGeom prst="rect">
            <a:avLst/>
          </a:prstGeom>
          <a:noFill/>
          <a:ln/>
        </p:spPr>
        <p:txBody>
          <a:bodyPr wrap="square" lIns="0" tIns="0" rIns="0" bIns="0" rtlCol="0" anchor="ctr"/>
          <a:lstStyle/>
          <a:p>
            <a:pPr marL="0" indent="0">
              <a:buNone/>
            </a:pPr>
            <a:r>
              <a:rPr lang="en-US" sz="1100" b="1" dirty="0">
                <a:solidFill>
                  <a:srgbClr val="DDE7F7"/>
                </a:solidFill>
                <a:latin typeface="Calibri" pitchFamily="34" charset="0"/>
                <a:ea typeface="Calibri" pitchFamily="34" charset="-122"/>
                <a:cs typeface="Calibri" pitchFamily="34" charset="-120"/>
              </a:rPr>
              <a:t>LLM synthesis is the weakest link</a:t>
            </a:r>
            <a:endParaRPr lang="en-US" sz="1100" dirty="0"/>
          </a:p>
        </p:txBody>
      </p:sp>
      <p:sp>
        <p:nvSpPr>
          <p:cNvPr id="7" name="Text 5"/>
          <p:cNvSpPr txBox="1"/>
          <p:nvPr/>
        </p:nvSpPr>
        <p:spPr>
          <a:xfrm>
            <a:off x="749808" y="1600200"/>
            <a:ext cx="7955280" cy="256032"/>
          </a:xfrm>
          <a:prstGeom prst="rect">
            <a:avLst/>
          </a:prstGeom>
          <a:noFill/>
          <a:ln/>
        </p:spPr>
        <p:txBody>
          <a:bodyPr wrap="square" lIns="0" tIns="0" rIns="0" bIns="0" rtlCol="0" anchor="ctr"/>
          <a:lstStyle/>
          <a:p>
            <a:pPr marL="0" indent="0">
              <a:buNone/>
            </a:pPr>
            <a:r>
              <a:rPr lang="en-US" sz="1000" dirty="0">
                <a:solidFill>
                  <a:srgbClr val="8BA3C7"/>
                </a:solidFill>
                <a:latin typeface="Calibri" pitchFamily="34" charset="0"/>
                <a:ea typeface="Calibri" pitchFamily="34" charset="-122"/>
                <a:cs typeface="Calibri" pitchFamily="34" charset="-120"/>
              </a:rPr>
              <a:t>Tools hallucinate less than models do. Every token the model adds is a liability.</a:t>
            </a:r>
            <a:endParaRPr lang="en-US" sz="1000" dirty="0"/>
          </a:p>
        </p:txBody>
      </p:sp>
      <p:sp>
        <p:nvSpPr>
          <p:cNvPr id="8" name="Shape 6"/>
          <p:cNvSpPr/>
          <p:nvPr/>
        </p:nvSpPr>
        <p:spPr>
          <a:xfrm>
            <a:off x="548640" y="2048256"/>
            <a:ext cx="8321040" cy="612648"/>
          </a:xfrm>
          <a:prstGeom prst="roundRect">
            <a:avLst>
              <a:gd name="adj" fmla="val 7463"/>
            </a:avLst>
          </a:prstGeom>
          <a:solidFill>
            <a:srgbClr val="0F1829"/>
          </a:solidFill>
          <a:ln w="6350">
            <a:solidFill>
              <a:srgbClr val="172035"/>
            </a:solidFill>
            <a:prstDash val="solid"/>
          </a:ln>
        </p:spPr>
        <p:txBody>
          <a:bodyPr/>
          <a:lstStyle/>
          <a:p>
            <a:endParaRPr lang="en-US"/>
          </a:p>
        </p:txBody>
      </p:sp>
      <p:sp>
        <p:nvSpPr>
          <p:cNvPr id="9" name="Shape 7"/>
          <p:cNvSpPr/>
          <p:nvPr/>
        </p:nvSpPr>
        <p:spPr>
          <a:xfrm>
            <a:off x="548640" y="2048256"/>
            <a:ext cx="64008" cy="612648"/>
          </a:xfrm>
          <a:prstGeom prst="rect">
            <a:avLst/>
          </a:prstGeom>
          <a:solidFill>
            <a:srgbClr val="FF6130"/>
          </a:solidFill>
          <a:ln w="12700">
            <a:solidFill>
              <a:srgbClr val="FF6130"/>
            </a:solidFill>
            <a:prstDash val="solid"/>
          </a:ln>
        </p:spPr>
        <p:txBody>
          <a:bodyPr/>
          <a:lstStyle/>
          <a:p>
            <a:endParaRPr lang="en-US"/>
          </a:p>
        </p:txBody>
      </p:sp>
      <p:sp>
        <p:nvSpPr>
          <p:cNvPr id="10" name="Text 8"/>
          <p:cNvSpPr txBox="1"/>
          <p:nvPr/>
        </p:nvSpPr>
        <p:spPr>
          <a:xfrm>
            <a:off x="749808" y="2112264"/>
            <a:ext cx="7955280" cy="246888"/>
          </a:xfrm>
          <a:prstGeom prst="rect">
            <a:avLst/>
          </a:prstGeom>
          <a:noFill/>
          <a:ln/>
        </p:spPr>
        <p:txBody>
          <a:bodyPr wrap="square" lIns="0" tIns="0" rIns="0" bIns="0" rtlCol="0" anchor="ctr"/>
          <a:lstStyle/>
          <a:p>
            <a:pPr marL="0" indent="0">
              <a:buNone/>
            </a:pPr>
            <a:r>
              <a:rPr lang="en-US" sz="1100" b="1" dirty="0">
                <a:solidFill>
                  <a:srgbClr val="DDE7F7"/>
                </a:solidFill>
                <a:latin typeface="Calibri" pitchFamily="34" charset="0"/>
                <a:ea typeface="Calibri" pitchFamily="34" charset="-122"/>
                <a:cs typeface="Calibri" pitchFamily="34" charset="-120"/>
              </a:rPr>
              <a:t>Wide tool access → confident wrong answers</a:t>
            </a:r>
            <a:endParaRPr lang="en-US" sz="1100" dirty="0"/>
          </a:p>
        </p:txBody>
      </p:sp>
      <p:sp>
        <p:nvSpPr>
          <p:cNvPr id="11" name="Text 9"/>
          <p:cNvSpPr txBox="1"/>
          <p:nvPr/>
        </p:nvSpPr>
        <p:spPr>
          <a:xfrm>
            <a:off x="749808" y="2350008"/>
            <a:ext cx="7955280" cy="256032"/>
          </a:xfrm>
          <a:prstGeom prst="rect">
            <a:avLst/>
          </a:prstGeom>
          <a:noFill/>
          <a:ln/>
        </p:spPr>
        <p:txBody>
          <a:bodyPr wrap="square" lIns="0" tIns="0" rIns="0" bIns="0" rtlCol="0" anchor="ctr"/>
          <a:lstStyle/>
          <a:p>
            <a:pPr marL="0" indent="0">
              <a:buNone/>
            </a:pPr>
            <a:r>
              <a:rPr lang="en-US" sz="1000" dirty="0">
                <a:solidFill>
                  <a:srgbClr val="8BA3C7"/>
                </a:solidFill>
                <a:latin typeface="Calibri" pitchFamily="34" charset="0"/>
                <a:ea typeface="Calibri" pitchFamily="34" charset="-122"/>
                <a:cs typeface="Calibri" pitchFamily="34" charset="-120"/>
              </a:rPr>
              <a:t>More data is not always more signal. Unrelated indices produce false correlations.</a:t>
            </a:r>
            <a:endParaRPr lang="en-US" sz="1000" dirty="0"/>
          </a:p>
        </p:txBody>
      </p:sp>
      <p:sp>
        <p:nvSpPr>
          <p:cNvPr id="12" name="Shape 10"/>
          <p:cNvSpPr/>
          <p:nvPr/>
        </p:nvSpPr>
        <p:spPr>
          <a:xfrm>
            <a:off x="548640" y="2798064"/>
            <a:ext cx="8321040" cy="612648"/>
          </a:xfrm>
          <a:prstGeom prst="roundRect">
            <a:avLst>
              <a:gd name="adj" fmla="val 7463"/>
            </a:avLst>
          </a:prstGeom>
          <a:solidFill>
            <a:srgbClr val="0F1829"/>
          </a:solidFill>
          <a:ln w="6350">
            <a:solidFill>
              <a:srgbClr val="172035"/>
            </a:solidFill>
            <a:prstDash val="solid"/>
          </a:ln>
        </p:spPr>
        <p:txBody>
          <a:bodyPr/>
          <a:lstStyle/>
          <a:p>
            <a:endParaRPr lang="en-US"/>
          </a:p>
        </p:txBody>
      </p:sp>
      <p:sp>
        <p:nvSpPr>
          <p:cNvPr id="13" name="Shape 11"/>
          <p:cNvSpPr/>
          <p:nvPr/>
        </p:nvSpPr>
        <p:spPr>
          <a:xfrm>
            <a:off x="548640" y="2798064"/>
            <a:ext cx="64008" cy="612648"/>
          </a:xfrm>
          <a:prstGeom prst="rect">
            <a:avLst/>
          </a:prstGeom>
          <a:solidFill>
            <a:srgbClr val="FF6130"/>
          </a:solidFill>
          <a:ln w="12700">
            <a:solidFill>
              <a:srgbClr val="FF6130"/>
            </a:solidFill>
            <a:prstDash val="solid"/>
          </a:ln>
        </p:spPr>
        <p:txBody>
          <a:bodyPr/>
          <a:lstStyle/>
          <a:p>
            <a:endParaRPr lang="en-US"/>
          </a:p>
        </p:txBody>
      </p:sp>
      <p:sp>
        <p:nvSpPr>
          <p:cNvPr id="14" name="Text 12"/>
          <p:cNvSpPr txBox="1"/>
          <p:nvPr/>
        </p:nvSpPr>
        <p:spPr>
          <a:xfrm>
            <a:off x="749808" y="2862072"/>
            <a:ext cx="7955280" cy="246888"/>
          </a:xfrm>
          <a:prstGeom prst="rect">
            <a:avLst/>
          </a:prstGeom>
          <a:noFill/>
          <a:ln/>
        </p:spPr>
        <p:txBody>
          <a:bodyPr wrap="square" lIns="0" tIns="0" rIns="0" bIns="0" rtlCol="0" anchor="ctr"/>
          <a:lstStyle/>
          <a:p>
            <a:pPr marL="0" indent="0">
              <a:buNone/>
            </a:pPr>
            <a:r>
              <a:rPr lang="en-US" sz="1100" b="1" dirty="0">
                <a:solidFill>
                  <a:srgbClr val="DDE7F7"/>
                </a:solidFill>
                <a:latin typeface="Calibri" pitchFamily="34" charset="0"/>
                <a:ea typeface="Calibri" pitchFamily="34" charset="-122"/>
                <a:cs typeface="Calibri" pitchFamily="34" charset="-120"/>
              </a:rPr>
              <a:t>Alert fatigue transfers to agent fatigue</a:t>
            </a:r>
            <a:endParaRPr lang="en-US" sz="1100" dirty="0"/>
          </a:p>
        </p:txBody>
      </p:sp>
      <p:sp>
        <p:nvSpPr>
          <p:cNvPr id="15" name="Text 13"/>
          <p:cNvSpPr txBox="1"/>
          <p:nvPr/>
        </p:nvSpPr>
        <p:spPr>
          <a:xfrm>
            <a:off x="749808" y="3099816"/>
            <a:ext cx="7955280" cy="256032"/>
          </a:xfrm>
          <a:prstGeom prst="rect">
            <a:avLst/>
          </a:prstGeom>
          <a:noFill/>
          <a:ln/>
        </p:spPr>
        <p:txBody>
          <a:bodyPr wrap="square" lIns="0" tIns="0" rIns="0" bIns="0" rtlCol="0" anchor="ctr"/>
          <a:lstStyle/>
          <a:p>
            <a:pPr marL="0" indent="0">
              <a:buNone/>
            </a:pPr>
            <a:r>
              <a:rPr lang="en-US" sz="1000" dirty="0">
                <a:solidFill>
                  <a:srgbClr val="8BA3C7"/>
                </a:solidFill>
                <a:latin typeface="Calibri" pitchFamily="34" charset="0"/>
                <a:ea typeface="Calibri" pitchFamily="34" charset="-122"/>
                <a:cs typeface="Calibri" pitchFamily="34" charset="-120"/>
              </a:rPr>
              <a:t>If the anomaly detector fires constantly, so does the agent. Tune detection first.</a:t>
            </a:r>
            <a:endParaRPr lang="en-US" sz="1000" dirty="0"/>
          </a:p>
        </p:txBody>
      </p:sp>
      <p:sp>
        <p:nvSpPr>
          <p:cNvPr id="16" name="Shape 14"/>
          <p:cNvSpPr/>
          <p:nvPr/>
        </p:nvSpPr>
        <p:spPr>
          <a:xfrm>
            <a:off x="548640" y="3547872"/>
            <a:ext cx="8321040" cy="612648"/>
          </a:xfrm>
          <a:prstGeom prst="roundRect">
            <a:avLst>
              <a:gd name="adj" fmla="val 7463"/>
            </a:avLst>
          </a:prstGeom>
          <a:solidFill>
            <a:srgbClr val="0F1829"/>
          </a:solidFill>
          <a:ln w="6350">
            <a:solidFill>
              <a:srgbClr val="172035"/>
            </a:solidFill>
            <a:prstDash val="solid"/>
          </a:ln>
        </p:spPr>
        <p:txBody>
          <a:bodyPr/>
          <a:lstStyle/>
          <a:p>
            <a:endParaRPr lang="en-US"/>
          </a:p>
        </p:txBody>
      </p:sp>
      <p:sp>
        <p:nvSpPr>
          <p:cNvPr id="17" name="Shape 15"/>
          <p:cNvSpPr/>
          <p:nvPr/>
        </p:nvSpPr>
        <p:spPr>
          <a:xfrm>
            <a:off x="548640" y="3547872"/>
            <a:ext cx="64008" cy="612648"/>
          </a:xfrm>
          <a:prstGeom prst="rect">
            <a:avLst/>
          </a:prstGeom>
          <a:solidFill>
            <a:srgbClr val="FF6130"/>
          </a:solidFill>
          <a:ln w="12700">
            <a:solidFill>
              <a:srgbClr val="FF6130"/>
            </a:solidFill>
            <a:prstDash val="solid"/>
          </a:ln>
        </p:spPr>
        <p:txBody>
          <a:bodyPr/>
          <a:lstStyle/>
          <a:p>
            <a:endParaRPr lang="en-US"/>
          </a:p>
        </p:txBody>
      </p:sp>
      <p:sp>
        <p:nvSpPr>
          <p:cNvPr id="18" name="Text 16"/>
          <p:cNvSpPr txBox="1"/>
          <p:nvPr/>
        </p:nvSpPr>
        <p:spPr>
          <a:xfrm>
            <a:off x="749808" y="3611880"/>
            <a:ext cx="7955280" cy="246888"/>
          </a:xfrm>
          <a:prstGeom prst="rect">
            <a:avLst/>
          </a:prstGeom>
          <a:noFill/>
          <a:ln/>
        </p:spPr>
        <p:txBody>
          <a:bodyPr wrap="square" lIns="0" tIns="0" rIns="0" bIns="0" rtlCol="0" anchor="ctr"/>
          <a:lstStyle/>
          <a:p>
            <a:r>
              <a:rPr lang="en-US" sz="1100" b="1" dirty="0">
                <a:solidFill>
                  <a:srgbClr val="DDE7F7"/>
                </a:solidFill>
                <a:latin typeface="Calibri" pitchFamily="34" charset="0"/>
                <a:ea typeface="Calibri" pitchFamily="34" charset="-122"/>
                <a:cs typeface="Calibri" pitchFamily="34" charset="-120"/>
              </a:rPr>
              <a:t>Index naming can fail silently</a:t>
            </a:r>
            <a:endParaRPr lang="en-US" sz="1100" dirty="0"/>
          </a:p>
        </p:txBody>
      </p:sp>
      <p:sp>
        <p:nvSpPr>
          <p:cNvPr id="19" name="Text 17"/>
          <p:cNvSpPr txBox="1"/>
          <p:nvPr/>
        </p:nvSpPr>
        <p:spPr>
          <a:xfrm>
            <a:off x="749808" y="3849624"/>
            <a:ext cx="7955280" cy="256032"/>
          </a:xfrm>
          <a:prstGeom prst="rect">
            <a:avLst/>
          </a:prstGeom>
          <a:noFill/>
          <a:ln/>
        </p:spPr>
        <p:txBody>
          <a:bodyPr wrap="square" lIns="0" tIns="0" rIns="0" bIns="0" rtlCol="0" anchor="ctr"/>
          <a:lstStyle/>
          <a:p>
            <a:pPr marL="0" indent="0">
              <a:buNone/>
            </a:pPr>
            <a:r>
              <a:rPr lang="en-US" sz="1000" dirty="0">
                <a:solidFill>
                  <a:srgbClr val="8BA3C7"/>
                </a:solidFill>
                <a:latin typeface="Calibri" pitchFamily="34" charset="0"/>
                <a:ea typeface="Calibri" pitchFamily="34" charset="-122"/>
                <a:cs typeface="Calibri" pitchFamily="34" charset="-120"/>
              </a:rPr>
              <a:t>prod-logs ≠ production-logs — the agent doesn't know and won't warn you.</a:t>
            </a:r>
            <a:endParaRPr lang="en-US" sz="1000" dirty="0"/>
          </a:p>
        </p:txBody>
      </p:sp>
      <p:sp>
        <p:nvSpPr>
          <p:cNvPr id="20" name="Shape 18"/>
          <p:cNvSpPr/>
          <p:nvPr/>
        </p:nvSpPr>
        <p:spPr>
          <a:xfrm>
            <a:off x="548640" y="4297680"/>
            <a:ext cx="8321040" cy="612648"/>
          </a:xfrm>
          <a:prstGeom prst="roundRect">
            <a:avLst>
              <a:gd name="adj" fmla="val 7463"/>
            </a:avLst>
          </a:prstGeom>
          <a:solidFill>
            <a:srgbClr val="0F1829"/>
          </a:solidFill>
          <a:ln w="6350">
            <a:solidFill>
              <a:srgbClr val="172035"/>
            </a:solidFill>
            <a:prstDash val="solid"/>
          </a:ln>
        </p:spPr>
        <p:txBody>
          <a:bodyPr/>
          <a:lstStyle/>
          <a:p>
            <a:endParaRPr lang="en-US"/>
          </a:p>
        </p:txBody>
      </p:sp>
      <p:sp>
        <p:nvSpPr>
          <p:cNvPr id="21" name="Shape 19"/>
          <p:cNvSpPr/>
          <p:nvPr/>
        </p:nvSpPr>
        <p:spPr>
          <a:xfrm>
            <a:off x="548640" y="4297680"/>
            <a:ext cx="64008" cy="612648"/>
          </a:xfrm>
          <a:prstGeom prst="rect">
            <a:avLst/>
          </a:prstGeom>
          <a:solidFill>
            <a:srgbClr val="FF6130"/>
          </a:solidFill>
          <a:ln w="12700">
            <a:solidFill>
              <a:srgbClr val="FF6130"/>
            </a:solidFill>
            <a:prstDash val="solid"/>
          </a:ln>
        </p:spPr>
        <p:txBody>
          <a:bodyPr/>
          <a:lstStyle/>
          <a:p>
            <a:endParaRPr lang="en-US"/>
          </a:p>
        </p:txBody>
      </p:sp>
      <p:sp>
        <p:nvSpPr>
          <p:cNvPr id="22" name="Text 20"/>
          <p:cNvSpPr txBox="1"/>
          <p:nvPr/>
        </p:nvSpPr>
        <p:spPr>
          <a:xfrm>
            <a:off x="749808" y="4361688"/>
            <a:ext cx="7955280" cy="246888"/>
          </a:xfrm>
          <a:prstGeom prst="rect">
            <a:avLst/>
          </a:prstGeom>
          <a:noFill/>
          <a:ln/>
        </p:spPr>
        <p:txBody>
          <a:bodyPr wrap="square" lIns="0" tIns="0" rIns="0" bIns="0" rtlCol="0" anchor="ctr"/>
          <a:lstStyle/>
          <a:p>
            <a:pPr marL="0" indent="0">
              <a:buNone/>
            </a:pPr>
            <a:r>
              <a:rPr lang="en-US" sz="1100" b="1" dirty="0">
                <a:solidFill>
                  <a:srgbClr val="DDE7F7"/>
                </a:solidFill>
                <a:latin typeface="Calibri" pitchFamily="34" charset="0"/>
                <a:ea typeface="Calibri" pitchFamily="34" charset="-122"/>
                <a:cs typeface="Calibri" pitchFamily="34" charset="-120"/>
              </a:rPr>
              <a:t>Time windows drift</a:t>
            </a:r>
            <a:endParaRPr lang="en-US" sz="1100" dirty="0"/>
          </a:p>
        </p:txBody>
      </p:sp>
      <p:sp>
        <p:nvSpPr>
          <p:cNvPr id="23" name="Text 21"/>
          <p:cNvSpPr txBox="1"/>
          <p:nvPr/>
        </p:nvSpPr>
        <p:spPr>
          <a:xfrm>
            <a:off x="749808" y="4599432"/>
            <a:ext cx="7955280" cy="256032"/>
          </a:xfrm>
          <a:prstGeom prst="rect">
            <a:avLst/>
          </a:prstGeom>
          <a:noFill/>
          <a:ln/>
        </p:spPr>
        <p:txBody>
          <a:bodyPr wrap="square" lIns="0" tIns="0" rIns="0" bIns="0" rtlCol="0" anchor="ctr"/>
          <a:lstStyle/>
          <a:p>
            <a:pPr marL="0" indent="0">
              <a:buNone/>
            </a:pPr>
            <a:r>
              <a:rPr lang="en-US" sz="1000" dirty="0">
                <a:solidFill>
                  <a:srgbClr val="8BA3C7"/>
                </a:solidFill>
                <a:latin typeface="Calibri" pitchFamily="34" charset="0"/>
                <a:ea typeface="Calibri" pitchFamily="34" charset="-122"/>
                <a:cs typeface="Calibri" pitchFamily="34" charset="-120"/>
              </a:rPr>
              <a:t>now-10m is wrong when the anomaly happened 45 minutes ago. Match window to detector interval.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500"/>
                                        <p:tgtEl>
                                          <p:spTgt spid="2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01168"/>
          </a:xfrm>
          <a:prstGeom prst="rect">
            <a:avLst/>
          </a:prstGeom>
          <a:noFill/>
          <a:ln/>
        </p:spPr>
        <p:txBody>
          <a:bodyPr wrap="square" rtlCol="0" anchor="ctr"/>
          <a:lstStyle/>
          <a:p>
            <a:pPr marL="0" indent="0">
              <a:buNone/>
            </a:pPr>
            <a:r>
              <a:rPr lang="en-US" sz="800" kern="0" spc="500" dirty="0">
                <a:solidFill>
                  <a:schemeClr val="tx2"/>
                </a:solidFill>
                <a:latin typeface="Calibri" pitchFamily="34" charset="0"/>
                <a:ea typeface="Calibri" pitchFamily="34" charset="-122"/>
                <a:cs typeface="Calibri" pitchFamily="34" charset="-120"/>
              </a:rPr>
              <a:t>HONEST ASSESSMENT</a:t>
            </a:r>
            <a:endParaRPr lang="en-US" sz="800" dirty="0">
              <a:solidFill>
                <a:schemeClr val="tx2"/>
              </a:solidFill>
            </a:endParaRPr>
          </a:p>
        </p:txBody>
      </p:sp>
      <p:sp>
        <p:nvSpPr>
          <p:cNvPr id="3" name="Text 1"/>
          <p:cNvSpPr txBox="1"/>
          <p:nvPr/>
        </p:nvSpPr>
        <p:spPr>
          <a:xfrm>
            <a:off x="548640" y="612648"/>
            <a:ext cx="8321040" cy="914400"/>
          </a:xfrm>
          <a:prstGeom prst="rect">
            <a:avLst/>
          </a:prstGeom>
          <a:noFill/>
          <a:ln/>
        </p:spPr>
        <p:txBody>
          <a:bodyPr wrap="square" lIns="0" tIns="0" rIns="0" bIns="0" rtlCol="0" anchor="ctr"/>
          <a:lstStyle/>
          <a:p>
            <a:pPr marL="0" indent="0">
              <a:buNone/>
            </a:pPr>
            <a:r>
              <a:rPr lang="en-US" sz="2600" b="1" dirty="0">
                <a:solidFill>
                  <a:srgbClr val="DDE7F7"/>
                </a:solidFill>
                <a:latin typeface="Cambria" pitchFamily="34" charset="0"/>
                <a:ea typeface="Cambria" pitchFamily="34" charset="-122"/>
                <a:cs typeface="Cambria" pitchFamily="34" charset="-120"/>
              </a:rPr>
              <a:t>Where human judgment still wins.</a:t>
            </a:r>
            <a:endParaRPr lang="en-US" sz="2600" dirty="0"/>
          </a:p>
        </p:txBody>
      </p:sp>
      <p:sp>
        <p:nvSpPr>
          <p:cNvPr id="4" name="Shape 2"/>
          <p:cNvSpPr/>
          <p:nvPr/>
        </p:nvSpPr>
        <p:spPr>
          <a:xfrm>
            <a:off x="502920" y="1335024"/>
            <a:ext cx="8412480" cy="292608"/>
          </a:xfrm>
          <a:prstGeom prst="rect">
            <a:avLst/>
          </a:prstGeom>
          <a:solidFill>
            <a:srgbClr val="172035"/>
          </a:solidFill>
          <a:ln w="12700">
            <a:solidFill>
              <a:srgbClr val="172035"/>
            </a:solidFill>
            <a:prstDash val="solid"/>
          </a:ln>
        </p:spPr>
        <p:txBody>
          <a:bodyPr/>
          <a:lstStyle/>
          <a:p>
            <a:endParaRPr lang="en-US"/>
          </a:p>
        </p:txBody>
      </p:sp>
      <p:sp>
        <p:nvSpPr>
          <p:cNvPr id="5" name="Text 3"/>
          <p:cNvSpPr txBox="1"/>
          <p:nvPr/>
        </p:nvSpPr>
        <p:spPr>
          <a:xfrm>
            <a:off x="640080" y="1353312"/>
            <a:ext cx="2926080" cy="256032"/>
          </a:xfrm>
          <a:prstGeom prst="rect">
            <a:avLst/>
          </a:prstGeom>
          <a:noFill/>
          <a:ln/>
        </p:spPr>
        <p:txBody>
          <a:bodyPr wrap="square" rtlCol="0" anchor="ctr"/>
          <a:lstStyle/>
          <a:p>
            <a:pPr marL="0" indent="0">
              <a:buNone/>
            </a:pPr>
            <a:r>
              <a:rPr lang="en-US" sz="750" kern="0" spc="300" dirty="0">
                <a:solidFill>
                  <a:schemeClr val="tx2"/>
                </a:solidFill>
                <a:latin typeface="Calibri" pitchFamily="34" charset="0"/>
                <a:ea typeface="Calibri" pitchFamily="34" charset="-122"/>
                <a:cs typeface="Calibri" pitchFamily="34" charset="-120"/>
              </a:rPr>
              <a:t>SCENARIO</a:t>
            </a:r>
            <a:endParaRPr lang="en-US" sz="750" dirty="0">
              <a:solidFill>
                <a:schemeClr val="tx2"/>
              </a:solidFill>
            </a:endParaRPr>
          </a:p>
        </p:txBody>
      </p:sp>
      <p:sp>
        <p:nvSpPr>
          <p:cNvPr id="6" name="Text 4"/>
          <p:cNvSpPr txBox="1"/>
          <p:nvPr/>
        </p:nvSpPr>
        <p:spPr>
          <a:xfrm>
            <a:off x="3749040" y="1353312"/>
            <a:ext cx="5029200" cy="256032"/>
          </a:xfrm>
          <a:prstGeom prst="rect">
            <a:avLst/>
          </a:prstGeom>
          <a:noFill/>
          <a:ln/>
        </p:spPr>
        <p:txBody>
          <a:bodyPr wrap="square" rtlCol="0" anchor="ctr"/>
          <a:lstStyle/>
          <a:p>
            <a:pPr marL="0" indent="0">
              <a:buNone/>
            </a:pPr>
            <a:r>
              <a:rPr lang="en-US" sz="750" kern="0" spc="300" dirty="0">
                <a:solidFill>
                  <a:schemeClr val="tx2"/>
                </a:solidFill>
                <a:latin typeface="Calibri" pitchFamily="34" charset="0"/>
                <a:ea typeface="Calibri" pitchFamily="34" charset="-122"/>
                <a:cs typeface="Calibri" pitchFamily="34" charset="-120"/>
              </a:rPr>
              <a:t>WHY THE AGENT FALLS SHORT</a:t>
            </a:r>
            <a:endParaRPr lang="en-US" sz="750" dirty="0">
              <a:solidFill>
                <a:schemeClr val="tx2"/>
              </a:solidFill>
            </a:endParaRPr>
          </a:p>
        </p:txBody>
      </p:sp>
      <p:sp>
        <p:nvSpPr>
          <p:cNvPr id="7" name="Shape 5"/>
          <p:cNvSpPr/>
          <p:nvPr/>
        </p:nvSpPr>
        <p:spPr>
          <a:xfrm>
            <a:off x="502920" y="1655064"/>
            <a:ext cx="8412480" cy="612648"/>
          </a:xfrm>
          <a:prstGeom prst="rect">
            <a:avLst/>
          </a:prstGeom>
          <a:solidFill>
            <a:srgbClr val="0F1829"/>
          </a:solidFill>
          <a:ln w="12700">
            <a:solidFill>
              <a:srgbClr val="0F1829"/>
            </a:solidFill>
            <a:prstDash val="solid"/>
          </a:ln>
        </p:spPr>
        <p:txBody>
          <a:bodyPr/>
          <a:lstStyle/>
          <a:p>
            <a:endParaRPr lang="en-US"/>
          </a:p>
        </p:txBody>
      </p:sp>
      <p:sp>
        <p:nvSpPr>
          <p:cNvPr id="8" name="Shape 6"/>
          <p:cNvSpPr/>
          <p:nvPr/>
        </p:nvSpPr>
        <p:spPr>
          <a:xfrm>
            <a:off x="502920" y="2267712"/>
            <a:ext cx="8412480" cy="0"/>
          </a:xfrm>
          <a:prstGeom prst="line">
            <a:avLst/>
          </a:prstGeom>
          <a:noFill/>
          <a:ln w="5080">
            <a:solidFill>
              <a:srgbClr val="151F35"/>
            </a:solidFill>
            <a:prstDash val="solid"/>
          </a:ln>
        </p:spPr>
        <p:txBody>
          <a:bodyPr/>
          <a:lstStyle/>
          <a:p>
            <a:endParaRPr lang="en-US"/>
          </a:p>
        </p:txBody>
      </p:sp>
      <p:sp>
        <p:nvSpPr>
          <p:cNvPr id="9" name="Text 7"/>
          <p:cNvSpPr txBox="1"/>
          <p:nvPr/>
        </p:nvSpPr>
        <p:spPr>
          <a:xfrm>
            <a:off x="640080" y="1810512"/>
            <a:ext cx="3017520" cy="320040"/>
          </a:xfrm>
          <a:prstGeom prst="rect">
            <a:avLst/>
          </a:prstGeom>
          <a:noFill/>
          <a:ln/>
        </p:spPr>
        <p:txBody>
          <a:bodyPr wrap="square" lIns="0" tIns="0" rIns="0" bIns="0" rtlCol="0" anchor="ctr"/>
          <a:lstStyle/>
          <a:p>
            <a:pPr marL="0" indent="0">
              <a:buNone/>
            </a:pPr>
            <a:r>
              <a:rPr lang="en-US" sz="1100" b="1" dirty="0">
                <a:solidFill>
                  <a:srgbClr val="DDE7F7"/>
                </a:solidFill>
                <a:latin typeface="Calibri" pitchFamily="34" charset="0"/>
                <a:ea typeface="Calibri" pitchFamily="34" charset="-122"/>
                <a:cs typeface="Calibri" pitchFamily="34" charset="-120"/>
              </a:rPr>
              <a:t>Novel failure modes</a:t>
            </a:r>
            <a:endParaRPr lang="en-US" sz="1100" dirty="0"/>
          </a:p>
        </p:txBody>
      </p:sp>
      <p:sp>
        <p:nvSpPr>
          <p:cNvPr id="10" name="Text 8"/>
          <p:cNvSpPr txBox="1"/>
          <p:nvPr/>
        </p:nvSpPr>
        <p:spPr>
          <a:xfrm>
            <a:off x="3749040" y="1746504"/>
            <a:ext cx="5029200" cy="475488"/>
          </a:xfrm>
          <a:prstGeom prst="rect">
            <a:avLst/>
          </a:prstGeom>
          <a:noFill/>
          <a:ln/>
        </p:spPr>
        <p:txBody>
          <a:bodyPr wrap="square" lIns="0" tIns="0" rIns="0" bIns="0" rtlCol="0" anchor="ctr"/>
          <a:lstStyle/>
          <a:p>
            <a:pPr marL="0" indent="0">
              <a:buNone/>
            </a:pPr>
            <a:r>
              <a:rPr lang="en-US" sz="1050" dirty="0">
                <a:solidFill>
                  <a:srgbClr val="8BA3C7"/>
                </a:solidFill>
                <a:latin typeface="Calibri" pitchFamily="34" charset="0"/>
                <a:ea typeface="Calibri" pitchFamily="34" charset="-122"/>
                <a:cs typeface="Calibri" pitchFamily="34" charset="-120"/>
              </a:rPr>
              <a:t>The agent has never seen this pattern. Pattern matching fails on first-time failures.</a:t>
            </a:r>
            <a:endParaRPr lang="en-US" sz="1050" dirty="0"/>
          </a:p>
        </p:txBody>
      </p:sp>
      <p:sp>
        <p:nvSpPr>
          <p:cNvPr id="11" name="Shape 9"/>
          <p:cNvSpPr/>
          <p:nvPr/>
        </p:nvSpPr>
        <p:spPr>
          <a:xfrm>
            <a:off x="502920" y="2926080"/>
            <a:ext cx="8412480" cy="0"/>
          </a:xfrm>
          <a:prstGeom prst="line">
            <a:avLst/>
          </a:prstGeom>
          <a:noFill/>
          <a:ln w="5080">
            <a:solidFill>
              <a:srgbClr val="151F35"/>
            </a:solidFill>
            <a:prstDash val="solid"/>
          </a:ln>
        </p:spPr>
        <p:txBody>
          <a:bodyPr/>
          <a:lstStyle/>
          <a:p>
            <a:endParaRPr lang="en-US"/>
          </a:p>
        </p:txBody>
      </p:sp>
      <p:sp>
        <p:nvSpPr>
          <p:cNvPr id="12" name="Text 10"/>
          <p:cNvSpPr txBox="1"/>
          <p:nvPr/>
        </p:nvSpPr>
        <p:spPr>
          <a:xfrm>
            <a:off x="640080" y="2468880"/>
            <a:ext cx="3017520" cy="320040"/>
          </a:xfrm>
          <a:prstGeom prst="rect">
            <a:avLst/>
          </a:prstGeom>
          <a:noFill/>
          <a:ln/>
        </p:spPr>
        <p:txBody>
          <a:bodyPr wrap="square" lIns="0" tIns="0" rIns="0" bIns="0" rtlCol="0" anchor="ctr"/>
          <a:lstStyle/>
          <a:p>
            <a:pPr marL="0" indent="0">
              <a:buNone/>
            </a:pPr>
            <a:r>
              <a:rPr lang="en-US" sz="1100" b="1" dirty="0">
                <a:solidFill>
                  <a:srgbClr val="DDE7F7"/>
                </a:solidFill>
                <a:latin typeface="Calibri" pitchFamily="34" charset="0"/>
                <a:ea typeface="Calibri" pitchFamily="34" charset="-122"/>
                <a:cs typeface="Calibri" pitchFamily="34" charset="-120"/>
              </a:rPr>
              <a:t>Blast radius decisions</a:t>
            </a:r>
            <a:endParaRPr lang="en-US" sz="1100" dirty="0"/>
          </a:p>
        </p:txBody>
      </p:sp>
      <p:sp>
        <p:nvSpPr>
          <p:cNvPr id="13" name="Text 11"/>
          <p:cNvSpPr txBox="1"/>
          <p:nvPr/>
        </p:nvSpPr>
        <p:spPr>
          <a:xfrm>
            <a:off x="3749040" y="2404872"/>
            <a:ext cx="5029200" cy="475488"/>
          </a:xfrm>
          <a:prstGeom prst="rect">
            <a:avLst/>
          </a:prstGeom>
          <a:noFill/>
          <a:ln/>
        </p:spPr>
        <p:txBody>
          <a:bodyPr wrap="square" lIns="0" tIns="0" rIns="0" bIns="0" rtlCol="0" anchor="ctr"/>
          <a:lstStyle/>
          <a:p>
            <a:pPr marL="0" indent="0">
              <a:buNone/>
            </a:pPr>
            <a:r>
              <a:rPr lang="en-US" sz="1050" dirty="0">
                <a:solidFill>
                  <a:srgbClr val="8BA3C7"/>
                </a:solidFill>
                <a:latin typeface="Calibri" pitchFamily="34" charset="0"/>
                <a:ea typeface="Calibri" pitchFamily="34" charset="-122"/>
                <a:cs typeface="Calibri" pitchFamily="34" charset="-120"/>
              </a:rPr>
              <a:t>"Is it safe to rollback right now?" requires knowing what else is deployed.</a:t>
            </a:r>
            <a:endParaRPr lang="en-US" sz="1050" dirty="0"/>
          </a:p>
        </p:txBody>
      </p:sp>
      <p:sp>
        <p:nvSpPr>
          <p:cNvPr id="14" name="Shape 12"/>
          <p:cNvSpPr/>
          <p:nvPr/>
        </p:nvSpPr>
        <p:spPr>
          <a:xfrm>
            <a:off x="502920" y="2971800"/>
            <a:ext cx="8412480" cy="612648"/>
          </a:xfrm>
          <a:prstGeom prst="rect">
            <a:avLst/>
          </a:prstGeom>
          <a:solidFill>
            <a:srgbClr val="0F1829"/>
          </a:solidFill>
          <a:ln w="12700">
            <a:solidFill>
              <a:srgbClr val="0F1829"/>
            </a:solidFill>
            <a:prstDash val="solid"/>
          </a:ln>
        </p:spPr>
        <p:txBody>
          <a:bodyPr/>
          <a:lstStyle/>
          <a:p>
            <a:endParaRPr lang="en-US"/>
          </a:p>
        </p:txBody>
      </p:sp>
      <p:sp>
        <p:nvSpPr>
          <p:cNvPr id="15" name="Shape 13"/>
          <p:cNvSpPr/>
          <p:nvPr/>
        </p:nvSpPr>
        <p:spPr>
          <a:xfrm>
            <a:off x="502920" y="3584448"/>
            <a:ext cx="8412480" cy="0"/>
          </a:xfrm>
          <a:prstGeom prst="line">
            <a:avLst/>
          </a:prstGeom>
          <a:noFill/>
          <a:ln w="5080">
            <a:solidFill>
              <a:srgbClr val="151F35"/>
            </a:solidFill>
            <a:prstDash val="solid"/>
          </a:ln>
        </p:spPr>
        <p:txBody>
          <a:bodyPr/>
          <a:lstStyle/>
          <a:p>
            <a:endParaRPr lang="en-US"/>
          </a:p>
        </p:txBody>
      </p:sp>
      <p:sp>
        <p:nvSpPr>
          <p:cNvPr id="16" name="Text 14"/>
          <p:cNvSpPr txBox="1"/>
          <p:nvPr/>
        </p:nvSpPr>
        <p:spPr>
          <a:xfrm>
            <a:off x="640080" y="3127248"/>
            <a:ext cx="3017520" cy="320040"/>
          </a:xfrm>
          <a:prstGeom prst="rect">
            <a:avLst/>
          </a:prstGeom>
          <a:noFill/>
          <a:ln/>
        </p:spPr>
        <p:txBody>
          <a:bodyPr wrap="square" lIns="0" tIns="0" rIns="0" bIns="0" rtlCol="0" anchor="ctr"/>
          <a:lstStyle/>
          <a:p>
            <a:pPr marL="0" indent="0">
              <a:buNone/>
            </a:pPr>
            <a:r>
              <a:rPr lang="en-US" sz="1100" b="1" dirty="0">
                <a:solidFill>
                  <a:srgbClr val="DDE7F7"/>
                </a:solidFill>
                <a:latin typeface="Calibri" pitchFamily="34" charset="0"/>
                <a:ea typeface="Calibri" pitchFamily="34" charset="-122"/>
                <a:cs typeface="Calibri" pitchFamily="34" charset="-120"/>
              </a:rPr>
              <a:t>Rollback authorisation</a:t>
            </a:r>
            <a:endParaRPr lang="en-US" sz="1100" dirty="0"/>
          </a:p>
        </p:txBody>
      </p:sp>
      <p:sp>
        <p:nvSpPr>
          <p:cNvPr id="17" name="Text 15"/>
          <p:cNvSpPr txBox="1"/>
          <p:nvPr/>
        </p:nvSpPr>
        <p:spPr>
          <a:xfrm>
            <a:off x="3749040" y="3063240"/>
            <a:ext cx="5029200" cy="475488"/>
          </a:xfrm>
          <a:prstGeom prst="rect">
            <a:avLst/>
          </a:prstGeom>
          <a:noFill/>
          <a:ln/>
        </p:spPr>
        <p:txBody>
          <a:bodyPr wrap="square" lIns="0" tIns="0" rIns="0" bIns="0" rtlCol="0" anchor="ctr"/>
          <a:lstStyle/>
          <a:p>
            <a:pPr marL="0" indent="0">
              <a:buNone/>
            </a:pPr>
            <a:r>
              <a:rPr lang="en-US" sz="1050" dirty="0">
                <a:solidFill>
                  <a:srgbClr val="8BA3C7"/>
                </a:solidFill>
                <a:latin typeface="Calibri" pitchFamily="34" charset="0"/>
                <a:ea typeface="Calibri" pitchFamily="34" charset="-122"/>
                <a:cs typeface="Calibri" pitchFamily="34" charset="-120"/>
              </a:rPr>
              <a:t>Someone still has to say yes. The agent surfaces the hypothesis; the human owns the action.</a:t>
            </a:r>
            <a:endParaRPr lang="en-US" sz="1050" dirty="0"/>
          </a:p>
        </p:txBody>
      </p:sp>
      <p:sp>
        <p:nvSpPr>
          <p:cNvPr id="18" name="Shape 16"/>
          <p:cNvSpPr/>
          <p:nvPr/>
        </p:nvSpPr>
        <p:spPr>
          <a:xfrm>
            <a:off x="502920" y="4242816"/>
            <a:ext cx="8412480" cy="0"/>
          </a:xfrm>
          <a:prstGeom prst="line">
            <a:avLst/>
          </a:prstGeom>
          <a:noFill/>
          <a:ln w="5080">
            <a:solidFill>
              <a:srgbClr val="151F35"/>
            </a:solidFill>
            <a:prstDash val="solid"/>
          </a:ln>
        </p:spPr>
        <p:txBody>
          <a:bodyPr/>
          <a:lstStyle/>
          <a:p>
            <a:endParaRPr lang="en-US"/>
          </a:p>
        </p:txBody>
      </p:sp>
      <p:sp>
        <p:nvSpPr>
          <p:cNvPr id="19" name="Text 17"/>
          <p:cNvSpPr txBox="1"/>
          <p:nvPr/>
        </p:nvSpPr>
        <p:spPr>
          <a:xfrm>
            <a:off x="640080" y="3785616"/>
            <a:ext cx="3017520" cy="320040"/>
          </a:xfrm>
          <a:prstGeom prst="rect">
            <a:avLst/>
          </a:prstGeom>
          <a:noFill/>
          <a:ln/>
        </p:spPr>
        <p:txBody>
          <a:bodyPr wrap="square" lIns="0" tIns="0" rIns="0" bIns="0" rtlCol="0" anchor="ctr"/>
          <a:lstStyle/>
          <a:p>
            <a:pPr marL="0" indent="0">
              <a:buNone/>
            </a:pPr>
            <a:r>
              <a:rPr lang="en-US" sz="1100" b="1" dirty="0">
                <a:solidFill>
                  <a:srgbClr val="DDE7F7"/>
                </a:solidFill>
                <a:latin typeface="Calibri" pitchFamily="34" charset="0"/>
                <a:ea typeface="Calibri" pitchFamily="34" charset="-122"/>
                <a:cs typeface="Calibri" pitchFamily="34" charset="-120"/>
              </a:rPr>
              <a:t>Cross-team coordination</a:t>
            </a:r>
            <a:endParaRPr lang="en-US" sz="1100" dirty="0"/>
          </a:p>
        </p:txBody>
      </p:sp>
      <p:sp>
        <p:nvSpPr>
          <p:cNvPr id="20" name="Text 18"/>
          <p:cNvSpPr txBox="1"/>
          <p:nvPr/>
        </p:nvSpPr>
        <p:spPr>
          <a:xfrm>
            <a:off x="3749040" y="3721608"/>
            <a:ext cx="5029200" cy="475488"/>
          </a:xfrm>
          <a:prstGeom prst="rect">
            <a:avLst/>
          </a:prstGeom>
          <a:noFill/>
          <a:ln/>
        </p:spPr>
        <p:txBody>
          <a:bodyPr wrap="square" lIns="0" tIns="0" rIns="0" bIns="0" rtlCol="0" anchor="ctr"/>
          <a:lstStyle/>
          <a:p>
            <a:pPr marL="0" indent="0">
              <a:buNone/>
            </a:pPr>
            <a:r>
              <a:rPr lang="en-US" sz="1050" dirty="0">
                <a:solidFill>
                  <a:srgbClr val="8BA3C7"/>
                </a:solidFill>
                <a:latin typeface="Calibri" pitchFamily="34" charset="0"/>
                <a:ea typeface="Calibri" pitchFamily="34" charset="-122"/>
                <a:cs typeface="Calibri" pitchFamily="34" charset="-120"/>
              </a:rPr>
              <a:t>Slack, stakeholder communication, and escalation are not agent output.</a:t>
            </a:r>
            <a:endParaRPr lang="en-US" sz="1050" dirty="0"/>
          </a:p>
        </p:txBody>
      </p:sp>
      <p:sp>
        <p:nvSpPr>
          <p:cNvPr id="21" name="Shape 19"/>
          <p:cNvSpPr/>
          <p:nvPr/>
        </p:nvSpPr>
        <p:spPr>
          <a:xfrm>
            <a:off x="502920" y="4288536"/>
            <a:ext cx="8412480" cy="612648"/>
          </a:xfrm>
          <a:prstGeom prst="rect">
            <a:avLst/>
          </a:prstGeom>
          <a:solidFill>
            <a:srgbClr val="0F1829"/>
          </a:solidFill>
          <a:ln w="12700">
            <a:solidFill>
              <a:srgbClr val="0F1829"/>
            </a:solidFill>
            <a:prstDash val="solid"/>
          </a:ln>
        </p:spPr>
        <p:txBody>
          <a:bodyPr/>
          <a:lstStyle/>
          <a:p>
            <a:endParaRPr lang="en-US"/>
          </a:p>
        </p:txBody>
      </p:sp>
      <p:sp>
        <p:nvSpPr>
          <p:cNvPr id="22" name="Shape 20"/>
          <p:cNvSpPr/>
          <p:nvPr/>
        </p:nvSpPr>
        <p:spPr>
          <a:xfrm>
            <a:off x="502920" y="4901184"/>
            <a:ext cx="8412480" cy="0"/>
          </a:xfrm>
          <a:prstGeom prst="line">
            <a:avLst/>
          </a:prstGeom>
          <a:noFill/>
          <a:ln w="5080">
            <a:solidFill>
              <a:srgbClr val="151F35"/>
            </a:solidFill>
            <a:prstDash val="solid"/>
          </a:ln>
        </p:spPr>
        <p:txBody>
          <a:bodyPr/>
          <a:lstStyle/>
          <a:p>
            <a:endParaRPr lang="en-US"/>
          </a:p>
        </p:txBody>
      </p:sp>
      <p:sp>
        <p:nvSpPr>
          <p:cNvPr id="23" name="Text 21"/>
          <p:cNvSpPr txBox="1"/>
          <p:nvPr/>
        </p:nvSpPr>
        <p:spPr>
          <a:xfrm>
            <a:off x="640080" y="4443984"/>
            <a:ext cx="3017520" cy="320040"/>
          </a:xfrm>
          <a:prstGeom prst="rect">
            <a:avLst/>
          </a:prstGeom>
          <a:noFill/>
          <a:ln/>
        </p:spPr>
        <p:txBody>
          <a:bodyPr wrap="square" lIns="0" tIns="0" rIns="0" bIns="0" rtlCol="0" anchor="ctr"/>
          <a:lstStyle/>
          <a:p>
            <a:pPr marL="0" indent="0">
              <a:buNone/>
            </a:pPr>
            <a:r>
              <a:rPr lang="en-US" sz="1100" b="1" dirty="0">
                <a:solidFill>
                  <a:srgbClr val="DDE7F7"/>
                </a:solidFill>
                <a:latin typeface="Calibri" pitchFamily="34" charset="0"/>
                <a:ea typeface="Calibri" pitchFamily="34" charset="-122"/>
                <a:cs typeface="Calibri" pitchFamily="34" charset="-120"/>
              </a:rPr>
              <a:t>Context the logs don't hold</a:t>
            </a:r>
            <a:endParaRPr lang="en-US" sz="1100" dirty="0"/>
          </a:p>
        </p:txBody>
      </p:sp>
      <p:sp>
        <p:nvSpPr>
          <p:cNvPr id="24" name="Text 22"/>
          <p:cNvSpPr txBox="1"/>
          <p:nvPr/>
        </p:nvSpPr>
        <p:spPr>
          <a:xfrm>
            <a:off x="3749040" y="4379976"/>
            <a:ext cx="5029200" cy="475488"/>
          </a:xfrm>
          <a:prstGeom prst="rect">
            <a:avLst/>
          </a:prstGeom>
          <a:noFill/>
          <a:ln/>
        </p:spPr>
        <p:txBody>
          <a:bodyPr wrap="square" lIns="0" tIns="0" rIns="0" bIns="0" rtlCol="0" anchor="ctr"/>
          <a:lstStyle/>
          <a:p>
            <a:pPr marL="0" indent="0">
              <a:buNone/>
            </a:pPr>
            <a:r>
              <a:rPr lang="en-US" sz="1050" dirty="0">
                <a:solidFill>
                  <a:srgbClr val="8BA3C7"/>
                </a:solidFill>
                <a:latin typeface="Calibri" pitchFamily="34" charset="0"/>
                <a:ea typeface="Calibri" pitchFamily="34" charset="-122"/>
                <a:cs typeface="Calibri" pitchFamily="34" charset="-120"/>
              </a:rPr>
              <a:t>"We pushed this exact fix last quarter." That knowledge lives in people, not indices.</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1"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500"/>
                                        <p:tgtEl>
                                          <p:spTgt spid="1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1"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500"/>
                                        <p:tgtEl>
                                          <p:spTgt spid="1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1" nodeType="click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500"/>
                                        <p:tgtEl>
                                          <p:spTgt spid="1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00"/>
                                        <p:tgtEl>
                                          <p:spTgt spid="2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500"/>
                                        <p:tgtEl>
                                          <p:spTgt spid="2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500"/>
                                        <p:tgtEl>
                                          <p:spTgt spid="2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8" grpId="1" animBg="1"/>
      <p:bldP spid="9" grpId="0" animBg="1"/>
      <p:bldP spid="10" grpId="0" animBg="1"/>
      <p:bldP spid="11" grpId="0" animBg="1"/>
      <p:bldP spid="11" grpId="1" animBg="1"/>
      <p:bldP spid="12" grpId="0" animBg="1"/>
      <p:bldP spid="13" grpId="0" animBg="1"/>
      <p:bldP spid="14" grpId="0" animBg="1"/>
      <p:bldP spid="15" grpId="0" animBg="1"/>
      <p:bldP spid="15" grpId="1" animBg="1"/>
      <p:bldP spid="16" grpId="0" animBg="1"/>
      <p:bldP spid="17" grpId="0" animBg="1"/>
      <p:bldP spid="18" grpId="0" animBg="1"/>
      <p:bldP spid="18" grpId="1" animBg="1"/>
      <p:bldP spid="19" grpId="0" animBg="1"/>
      <p:bldP spid="20" grpId="0" animBg="1"/>
      <p:bldP spid="21" grpId="0" animBg="1"/>
      <p:bldP spid="22"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C18"/>
        </a:solidFill>
        <a:effectLst/>
      </p:bgPr>
    </p:bg>
    <p:spTree>
      <p:nvGrpSpPr>
        <p:cNvPr id="1" name=""/>
        <p:cNvGrpSpPr/>
        <p:nvPr/>
      </p:nvGrpSpPr>
      <p:grpSpPr>
        <a:xfrm>
          <a:off x="0" y="0"/>
          <a:ext cx="0" cy="0"/>
          <a:chOff x="0" y="0"/>
          <a:chExt cx="0" cy="0"/>
        </a:xfrm>
      </p:grpSpPr>
      <p:sp>
        <p:nvSpPr>
          <p:cNvPr id="3" name="Text 1"/>
          <p:cNvSpPr txBox="1"/>
          <p:nvPr/>
        </p:nvSpPr>
        <p:spPr>
          <a:xfrm>
            <a:off x="0" y="2114550"/>
            <a:ext cx="9144000" cy="914400"/>
          </a:xfrm>
          <a:prstGeom prst="rect">
            <a:avLst/>
          </a:prstGeom>
          <a:noFill/>
          <a:ln/>
        </p:spPr>
        <p:txBody>
          <a:bodyPr wrap="square" lIns="0" tIns="0" rIns="0" bIns="0" rtlCol="0" anchor="ctr"/>
          <a:lstStyle/>
          <a:p>
            <a:pPr marL="0" indent="0" algn="ctr">
              <a:buNone/>
            </a:pPr>
            <a:r>
              <a:rPr lang="en-US" sz="8000" b="1" dirty="0">
                <a:solidFill>
                  <a:srgbClr val="DDE7F7"/>
                </a:solidFill>
                <a:latin typeface="Cambria" pitchFamily="34" charset="0"/>
                <a:ea typeface="Cambria" pitchFamily="34" charset="-122"/>
                <a:cs typeface="Cambria" pitchFamily="34" charset="-120"/>
              </a:rPr>
              <a:t>DEMO TIME!</a:t>
            </a:r>
            <a:endParaRPr lang="en-US" sz="8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0C18"/>
        </a:solidFill>
        <a:effectLst/>
      </p:bgPr>
    </p:bg>
    <p:spTree>
      <p:nvGrpSpPr>
        <p:cNvPr id="1" name="">
          <a:extLst>
            <a:ext uri="{FF2B5EF4-FFF2-40B4-BE49-F238E27FC236}">
              <a16:creationId xmlns:a16="http://schemas.microsoft.com/office/drawing/2014/main" id="{4E57F07A-9F95-9928-0052-5A47B6F15CD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317EAF-F477-D582-1611-4C019F2A696A}"/>
              </a:ext>
            </a:extLst>
          </p:cNvPr>
          <p:cNvSpPr txBox="1"/>
          <p:nvPr/>
        </p:nvSpPr>
        <p:spPr>
          <a:xfrm>
            <a:off x="548640" y="347472"/>
            <a:ext cx="8229600" cy="201168"/>
          </a:xfrm>
          <a:prstGeom prst="rect">
            <a:avLst/>
          </a:prstGeom>
          <a:noFill/>
          <a:ln/>
        </p:spPr>
        <p:txBody>
          <a:bodyPr wrap="square" rtlCol="0" anchor="ctr"/>
          <a:lstStyle/>
          <a:p>
            <a:pPr marL="0" indent="0">
              <a:buNone/>
            </a:pPr>
            <a:r>
              <a:rPr lang="en-US" sz="800" kern="0" spc="500" dirty="0">
                <a:solidFill>
                  <a:schemeClr val="tx2"/>
                </a:solidFill>
                <a:latin typeface="Calibri" pitchFamily="34" charset="0"/>
                <a:ea typeface="Calibri" pitchFamily="34" charset="-122"/>
                <a:cs typeface="Calibri" pitchFamily="34" charset="-120"/>
              </a:rPr>
              <a:t>TAKEAWAY</a:t>
            </a:r>
            <a:endParaRPr lang="en-US" sz="800" dirty="0">
              <a:solidFill>
                <a:schemeClr val="tx2"/>
              </a:solidFill>
            </a:endParaRPr>
          </a:p>
        </p:txBody>
      </p:sp>
      <p:sp>
        <p:nvSpPr>
          <p:cNvPr id="3" name="Text 1">
            <a:extLst>
              <a:ext uri="{FF2B5EF4-FFF2-40B4-BE49-F238E27FC236}">
                <a16:creationId xmlns:a16="http://schemas.microsoft.com/office/drawing/2014/main" id="{72283073-B26E-5D13-DBBB-620166848186}"/>
              </a:ext>
            </a:extLst>
          </p:cNvPr>
          <p:cNvSpPr txBox="1"/>
          <p:nvPr/>
        </p:nvSpPr>
        <p:spPr>
          <a:xfrm>
            <a:off x="548640" y="612648"/>
            <a:ext cx="8321040" cy="914400"/>
          </a:xfrm>
          <a:prstGeom prst="rect">
            <a:avLst/>
          </a:prstGeom>
          <a:noFill/>
          <a:ln/>
        </p:spPr>
        <p:txBody>
          <a:bodyPr wrap="square" lIns="0" tIns="0" rIns="0" bIns="0" rtlCol="0" anchor="ctr"/>
          <a:lstStyle/>
          <a:p>
            <a:pPr marL="0" indent="0">
              <a:buNone/>
            </a:pPr>
            <a:r>
              <a:rPr lang="en-US" sz="2600" b="1" dirty="0">
                <a:solidFill>
                  <a:srgbClr val="DDE7F7"/>
                </a:solidFill>
                <a:latin typeface="Cambria" pitchFamily="34" charset="0"/>
                <a:ea typeface="Cambria" pitchFamily="34" charset="-122"/>
                <a:cs typeface="Cambria" pitchFamily="34" charset="-120"/>
              </a:rPr>
              <a:t>Three layers. One wire.</a:t>
            </a:r>
            <a:endParaRPr lang="en-US" sz="2600" dirty="0"/>
          </a:p>
        </p:txBody>
      </p:sp>
      <p:sp>
        <p:nvSpPr>
          <p:cNvPr id="4" name="Shape 2">
            <a:extLst>
              <a:ext uri="{FF2B5EF4-FFF2-40B4-BE49-F238E27FC236}">
                <a16:creationId xmlns:a16="http://schemas.microsoft.com/office/drawing/2014/main" id="{7F6BF2DD-3D4F-193C-EB08-A1819F144C47}"/>
              </a:ext>
            </a:extLst>
          </p:cNvPr>
          <p:cNvSpPr/>
          <p:nvPr/>
        </p:nvSpPr>
        <p:spPr>
          <a:xfrm>
            <a:off x="502920" y="1298448"/>
            <a:ext cx="5212080" cy="3474720"/>
          </a:xfrm>
          <a:prstGeom prst="roundRect">
            <a:avLst>
              <a:gd name="adj" fmla="val 2368"/>
            </a:avLst>
          </a:prstGeom>
          <a:solidFill>
            <a:srgbClr val="0F1829"/>
          </a:solidFill>
          <a:ln w="10160">
            <a:solidFill>
              <a:srgbClr val="172035"/>
            </a:solidFill>
            <a:prstDash val="solid"/>
          </a:ln>
        </p:spPr>
        <p:txBody>
          <a:bodyPr/>
          <a:lstStyle/>
          <a:p>
            <a:endParaRPr lang="en-US"/>
          </a:p>
        </p:txBody>
      </p:sp>
      <p:sp>
        <p:nvSpPr>
          <p:cNvPr id="5" name="Text 3">
            <a:extLst>
              <a:ext uri="{FF2B5EF4-FFF2-40B4-BE49-F238E27FC236}">
                <a16:creationId xmlns:a16="http://schemas.microsoft.com/office/drawing/2014/main" id="{F54205DB-B456-2D59-DC8C-0955A5C3F1A0}"/>
              </a:ext>
            </a:extLst>
          </p:cNvPr>
          <p:cNvSpPr txBox="1"/>
          <p:nvPr/>
        </p:nvSpPr>
        <p:spPr>
          <a:xfrm>
            <a:off x="658368" y="1435608"/>
            <a:ext cx="4937760" cy="237744"/>
          </a:xfrm>
          <a:prstGeom prst="rect">
            <a:avLst/>
          </a:prstGeom>
          <a:noFill/>
          <a:ln/>
        </p:spPr>
        <p:txBody>
          <a:bodyPr wrap="square" lIns="0" tIns="0" rIns="0" bIns="0" rtlCol="0" anchor="ctr"/>
          <a:lstStyle/>
          <a:p>
            <a:pPr marL="0" indent="0">
              <a:buNone/>
            </a:pPr>
            <a:r>
              <a:rPr lang="en-US" sz="900" dirty="0">
                <a:solidFill>
                  <a:srgbClr val="8BA3C7"/>
                </a:solidFill>
                <a:latin typeface="Courier New" pitchFamily="34" charset="0"/>
                <a:ea typeface="Courier New" pitchFamily="34" charset="-122"/>
                <a:cs typeface="Courier New" pitchFamily="34" charset="-120"/>
              </a:rPr>
              <a:t>anomaly_detector</a:t>
            </a:r>
            <a:endParaRPr lang="en-US" sz="900" dirty="0"/>
          </a:p>
        </p:txBody>
      </p:sp>
      <p:sp>
        <p:nvSpPr>
          <p:cNvPr id="6" name="Text 4">
            <a:extLst>
              <a:ext uri="{FF2B5EF4-FFF2-40B4-BE49-F238E27FC236}">
                <a16:creationId xmlns:a16="http://schemas.microsoft.com/office/drawing/2014/main" id="{54EF1131-F169-D305-9EAD-79B5D7F3CC36}"/>
              </a:ext>
            </a:extLst>
          </p:cNvPr>
          <p:cNvSpPr txBox="1"/>
          <p:nvPr/>
        </p:nvSpPr>
        <p:spPr>
          <a:xfrm>
            <a:off x="658368" y="1677924"/>
            <a:ext cx="4937760" cy="237744"/>
          </a:xfrm>
          <a:prstGeom prst="rect">
            <a:avLst/>
          </a:prstGeom>
          <a:noFill/>
          <a:ln/>
        </p:spPr>
        <p:txBody>
          <a:bodyPr wrap="square" lIns="0" tIns="0" rIns="0" bIns="0" rtlCol="0" anchor="ctr"/>
          <a:lstStyle/>
          <a:p>
            <a:pPr marL="0" indent="0">
              <a:buNone/>
            </a:pPr>
            <a:r>
              <a:rPr lang="en-US" sz="900" dirty="0">
                <a:solidFill>
                  <a:srgbClr val="2A3D58"/>
                </a:solidFill>
                <a:latin typeface="Courier New" pitchFamily="34" charset="0"/>
                <a:ea typeface="Courier New" pitchFamily="34" charset="-122"/>
                <a:cs typeface="Courier New" pitchFamily="34" charset="-120"/>
              </a:rPr>
              <a:t>  ↓  grade &gt; 0.7</a:t>
            </a:r>
            <a:endParaRPr lang="en-US" sz="900" dirty="0"/>
          </a:p>
        </p:txBody>
      </p:sp>
      <p:sp>
        <p:nvSpPr>
          <p:cNvPr id="7" name="Text 5">
            <a:extLst>
              <a:ext uri="{FF2B5EF4-FFF2-40B4-BE49-F238E27FC236}">
                <a16:creationId xmlns:a16="http://schemas.microsoft.com/office/drawing/2014/main" id="{75B179B6-37F1-4D22-FC59-067ED6320F75}"/>
              </a:ext>
            </a:extLst>
          </p:cNvPr>
          <p:cNvSpPr txBox="1"/>
          <p:nvPr/>
        </p:nvSpPr>
        <p:spPr>
          <a:xfrm>
            <a:off x="932688" y="1920240"/>
            <a:ext cx="4937760" cy="237744"/>
          </a:xfrm>
          <a:prstGeom prst="rect">
            <a:avLst/>
          </a:prstGeom>
          <a:noFill/>
          <a:ln/>
        </p:spPr>
        <p:txBody>
          <a:bodyPr wrap="square" lIns="0" tIns="0" rIns="0" bIns="0" rtlCol="0" anchor="ctr"/>
          <a:lstStyle/>
          <a:p>
            <a:pPr marL="0" indent="0">
              <a:buNone/>
            </a:pPr>
            <a:r>
              <a:rPr lang="en-US" sz="900" dirty="0">
                <a:solidFill>
                  <a:srgbClr val="FF6130"/>
                </a:solidFill>
                <a:latin typeface="Courier New" pitchFamily="34" charset="0"/>
                <a:ea typeface="Courier New" pitchFamily="34" charset="-122"/>
                <a:cs typeface="Courier New" pitchFamily="34" charset="-120"/>
              </a:rPr>
              <a:t>alerting_monitor</a:t>
            </a:r>
            <a:endParaRPr lang="en-US" sz="900" dirty="0"/>
          </a:p>
        </p:txBody>
      </p:sp>
      <p:sp>
        <p:nvSpPr>
          <p:cNvPr id="8" name="Text 6">
            <a:extLst>
              <a:ext uri="{FF2B5EF4-FFF2-40B4-BE49-F238E27FC236}">
                <a16:creationId xmlns:a16="http://schemas.microsoft.com/office/drawing/2014/main" id="{A715D2B1-5F92-A1C7-7247-F3D3BA3D0ED5}"/>
              </a:ext>
            </a:extLst>
          </p:cNvPr>
          <p:cNvSpPr txBox="1"/>
          <p:nvPr/>
        </p:nvSpPr>
        <p:spPr>
          <a:xfrm>
            <a:off x="932688" y="2162556"/>
            <a:ext cx="4937760" cy="237744"/>
          </a:xfrm>
          <a:prstGeom prst="rect">
            <a:avLst/>
          </a:prstGeom>
          <a:noFill/>
          <a:ln/>
        </p:spPr>
        <p:txBody>
          <a:bodyPr wrap="square" lIns="0" tIns="0" rIns="0" bIns="0" rtlCol="0" anchor="ctr"/>
          <a:lstStyle/>
          <a:p>
            <a:pPr marL="0" indent="0">
              <a:buNone/>
            </a:pPr>
            <a:r>
              <a:rPr lang="en-US" sz="900" dirty="0">
                <a:solidFill>
                  <a:srgbClr val="2A3D58"/>
                </a:solidFill>
                <a:latin typeface="Courier New" pitchFamily="34" charset="0"/>
                <a:ea typeface="Courier New" pitchFamily="34" charset="-122"/>
                <a:cs typeface="Courier New" pitchFamily="34" charset="-120"/>
              </a:rPr>
              <a:t>  ↓  fires webhook</a:t>
            </a:r>
            <a:endParaRPr lang="en-US" sz="900" dirty="0"/>
          </a:p>
        </p:txBody>
      </p:sp>
      <p:sp>
        <p:nvSpPr>
          <p:cNvPr id="9" name="Text 7">
            <a:extLst>
              <a:ext uri="{FF2B5EF4-FFF2-40B4-BE49-F238E27FC236}">
                <a16:creationId xmlns:a16="http://schemas.microsoft.com/office/drawing/2014/main" id="{F17D0CC1-B759-AD9E-1CF2-4FDABA6AD956}"/>
              </a:ext>
            </a:extLst>
          </p:cNvPr>
          <p:cNvSpPr txBox="1"/>
          <p:nvPr/>
        </p:nvSpPr>
        <p:spPr>
          <a:xfrm>
            <a:off x="1207008" y="2404872"/>
            <a:ext cx="4937760" cy="237744"/>
          </a:xfrm>
          <a:prstGeom prst="rect">
            <a:avLst/>
          </a:prstGeom>
          <a:noFill/>
          <a:ln/>
        </p:spPr>
        <p:txBody>
          <a:bodyPr wrap="square" lIns="0" tIns="0" rIns="0" bIns="0" rtlCol="0" anchor="ctr"/>
          <a:lstStyle/>
          <a:p>
            <a:pPr marL="0" indent="0">
              <a:buNone/>
            </a:pPr>
            <a:r>
              <a:rPr lang="en-US" sz="900" dirty="0">
                <a:solidFill>
                  <a:srgbClr val="4F7EFF"/>
                </a:solidFill>
                <a:latin typeface="Courier New" pitchFamily="34" charset="0"/>
                <a:ea typeface="Courier New" pitchFamily="34" charset="-122"/>
                <a:cs typeface="Courier New" pitchFamily="34" charset="-120"/>
              </a:rPr>
              <a:t>flow_agent</a:t>
            </a:r>
            <a:endParaRPr lang="en-US" sz="900" dirty="0"/>
          </a:p>
        </p:txBody>
      </p:sp>
      <p:sp>
        <p:nvSpPr>
          <p:cNvPr id="10" name="Text 8">
            <a:extLst>
              <a:ext uri="{FF2B5EF4-FFF2-40B4-BE49-F238E27FC236}">
                <a16:creationId xmlns:a16="http://schemas.microsoft.com/office/drawing/2014/main" id="{97D61639-FF81-4ADF-A689-B57DA8D68427}"/>
              </a:ext>
            </a:extLst>
          </p:cNvPr>
          <p:cNvSpPr txBox="1"/>
          <p:nvPr/>
        </p:nvSpPr>
        <p:spPr>
          <a:xfrm>
            <a:off x="1207008" y="2647188"/>
            <a:ext cx="4937760" cy="237744"/>
          </a:xfrm>
          <a:prstGeom prst="rect">
            <a:avLst/>
          </a:prstGeom>
          <a:noFill/>
          <a:ln/>
        </p:spPr>
        <p:txBody>
          <a:bodyPr wrap="square" lIns="0" tIns="0" rIns="0" bIns="0" rtlCol="0" anchor="ctr"/>
          <a:lstStyle/>
          <a:p>
            <a:pPr marL="0" indent="0">
              <a:buNone/>
            </a:pPr>
            <a:r>
              <a:rPr lang="en-US" sz="900" dirty="0">
                <a:solidFill>
                  <a:srgbClr val="2A3D58"/>
                </a:solidFill>
                <a:latin typeface="Courier New" pitchFamily="34" charset="0"/>
                <a:ea typeface="Courier New" pitchFamily="34" charset="-122"/>
                <a:cs typeface="Courier New" pitchFamily="34" charset="-120"/>
              </a:rPr>
              <a:t>  ↓  runs tools</a:t>
            </a:r>
            <a:endParaRPr lang="en-US" sz="900" dirty="0"/>
          </a:p>
        </p:txBody>
      </p:sp>
      <p:sp>
        <p:nvSpPr>
          <p:cNvPr id="11" name="Text 9">
            <a:extLst>
              <a:ext uri="{FF2B5EF4-FFF2-40B4-BE49-F238E27FC236}">
                <a16:creationId xmlns:a16="http://schemas.microsoft.com/office/drawing/2014/main" id="{4FC147BD-1F99-AEC7-4ADC-4EF165B54178}"/>
              </a:ext>
            </a:extLst>
          </p:cNvPr>
          <p:cNvSpPr txBox="1"/>
          <p:nvPr/>
        </p:nvSpPr>
        <p:spPr>
          <a:xfrm>
            <a:off x="1207008" y="2889504"/>
            <a:ext cx="4937760" cy="237744"/>
          </a:xfrm>
          <a:prstGeom prst="rect">
            <a:avLst/>
          </a:prstGeom>
          <a:noFill/>
          <a:ln/>
        </p:spPr>
        <p:txBody>
          <a:bodyPr wrap="square" lIns="0" tIns="0" rIns="0" bIns="0" rtlCol="0" anchor="ctr"/>
          <a:lstStyle/>
          <a:p>
            <a:pPr marL="0" indent="0">
              <a:buNone/>
            </a:pPr>
            <a:r>
              <a:rPr lang="en-US" sz="900" dirty="0">
                <a:solidFill>
                  <a:srgbClr val="8BA3C7"/>
                </a:solidFill>
                <a:latin typeface="Courier New" pitchFamily="34" charset="0"/>
                <a:ea typeface="Courier New" pitchFamily="34" charset="-122"/>
                <a:cs typeface="Courier New" pitchFamily="34" charset="-120"/>
              </a:rPr>
              <a:t>  ├─ SearchAnomalyResultsTool</a:t>
            </a:r>
            <a:endParaRPr lang="en-US" sz="900" dirty="0"/>
          </a:p>
        </p:txBody>
      </p:sp>
      <p:sp>
        <p:nvSpPr>
          <p:cNvPr id="12" name="Text 10">
            <a:extLst>
              <a:ext uri="{FF2B5EF4-FFF2-40B4-BE49-F238E27FC236}">
                <a16:creationId xmlns:a16="http://schemas.microsoft.com/office/drawing/2014/main" id="{2B56220A-3BF2-3BE0-CB7C-9BD8D44DA2E9}"/>
              </a:ext>
            </a:extLst>
          </p:cNvPr>
          <p:cNvSpPr txBox="1"/>
          <p:nvPr/>
        </p:nvSpPr>
        <p:spPr>
          <a:xfrm>
            <a:off x="1207008" y="3131820"/>
            <a:ext cx="4937760" cy="237744"/>
          </a:xfrm>
          <a:prstGeom prst="rect">
            <a:avLst/>
          </a:prstGeom>
          <a:noFill/>
          <a:ln/>
        </p:spPr>
        <p:txBody>
          <a:bodyPr wrap="square" lIns="0" tIns="0" rIns="0" bIns="0" rtlCol="0" anchor="ctr"/>
          <a:lstStyle/>
          <a:p>
            <a:pPr marL="0" indent="0">
              <a:buNone/>
            </a:pPr>
            <a:r>
              <a:rPr lang="en-US" sz="900" dirty="0">
                <a:solidFill>
                  <a:srgbClr val="8BA3C7"/>
                </a:solidFill>
                <a:latin typeface="Courier New" pitchFamily="34" charset="0"/>
                <a:ea typeface="Courier New" pitchFamily="34" charset="-122"/>
                <a:cs typeface="Courier New" pitchFamily="34" charset="-120"/>
              </a:rPr>
              <a:t>  ├─ SearchIndexTool (prod-logs)</a:t>
            </a:r>
            <a:endParaRPr lang="en-US" sz="900" dirty="0"/>
          </a:p>
        </p:txBody>
      </p:sp>
      <p:sp>
        <p:nvSpPr>
          <p:cNvPr id="13" name="Text 11">
            <a:extLst>
              <a:ext uri="{FF2B5EF4-FFF2-40B4-BE49-F238E27FC236}">
                <a16:creationId xmlns:a16="http://schemas.microsoft.com/office/drawing/2014/main" id="{62FAD241-5AF0-36C8-ADC9-973F3DC81162}"/>
              </a:ext>
            </a:extLst>
          </p:cNvPr>
          <p:cNvSpPr txBox="1"/>
          <p:nvPr/>
        </p:nvSpPr>
        <p:spPr>
          <a:xfrm>
            <a:off x="1207008" y="3374136"/>
            <a:ext cx="4937760" cy="237744"/>
          </a:xfrm>
          <a:prstGeom prst="rect">
            <a:avLst/>
          </a:prstGeom>
          <a:noFill/>
          <a:ln/>
        </p:spPr>
        <p:txBody>
          <a:bodyPr wrap="square" lIns="0" tIns="0" rIns="0" bIns="0" rtlCol="0" anchor="ctr"/>
          <a:lstStyle/>
          <a:p>
            <a:pPr marL="0" indent="0">
              <a:buNone/>
            </a:pPr>
            <a:r>
              <a:rPr lang="en-US" sz="900" dirty="0">
                <a:solidFill>
                  <a:srgbClr val="8BA3C7"/>
                </a:solidFill>
                <a:latin typeface="Courier New" pitchFamily="34" charset="0"/>
                <a:ea typeface="Courier New" pitchFamily="34" charset="-122"/>
                <a:cs typeface="Courier New" pitchFamily="34" charset="-120"/>
              </a:rPr>
              <a:t>  ├─ SearchIndexTool (deploy-events)</a:t>
            </a:r>
            <a:endParaRPr lang="en-US" sz="900" dirty="0"/>
          </a:p>
        </p:txBody>
      </p:sp>
      <p:sp>
        <p:nvSpPr>
          <p:cNvPr id="14" name="Text 12">
            <a:extLst>
              <a:ext uri="{FF2B5EF4-FFF2-40B4-BE49-F238E27FC236}">
                <a16:creationId xmlns:a16="http://schemas.microsoft.com/office/drawing/2014/main" id="{44003B22-9318-B9C3-F3F1-3F68CE74C308}"/>
              </a:ext>
            </a:extLst>
          </p:cNvPr>
          <p:cNvSpPr txBox="1"/>
          <p:nvPr/>
        </p:nvSpPr>
        <p:spPr>
          <a:xfrm>
            <a:off x="1207008" y="3616452"/>
            <a:ext cx="4937760" cy="237744"/>
          </a:xfrm>
          <a:prstGeom prst="rect">
            <a:avLst/>
          </a:prstGeom>
          <a:noFill/>
          <a:ln/>
        </p:spPr>
        <p:txBody>
          <a:bodyPr wrap="square" lIns="0" tIns="0" rIns="0" bIns="0" rtlCol="0" anchor="ctr"/>
          <a:lstStyle/>
          <a:p>
            <a:pPr marL="0" indent="0">
              <a:buNone/>
            </a:pPr>
            <a:r>
              <a:rPr lang="en-US" sz="900" dirty="0">
                <a:solidFill>
                  <a:srgbClr val="8BA3C7"/>
                </a:solidFill>
                <a:latin typeface="Courier New" pitchFamily="34" charset="0"/>
                <a:ea typeface="Courier New" pitchFamily="34" charset="-122"/>
                <a:cs typeface="Courier New" pitchFamily="34" charset="-120"/>
              </a:rPr>
              <a:t>  ├─ LogPatternTool</a:t>
            </a:r>
            <a:endParaRPr lang="en-US" sz="900" dirty="0"/>
          </a:p>
        </p:txBody>
      </p:sp>
      <p:sp>
        <p:nvSpPr>
          <p:cNvPr id="15" name="Text 13">
            <a:extLst>
              <a:ext uri="{FF2B5EF4-FFF2-40B4-BE49-F238E27FC236}">
                <a16:creationId xmlns:a16="http://schemas.microsoft.com/office/drawing/2014/main" id="{ACD1B330-1FE5-6A33-6093-DBD28C1B309D}"/>
              </a:ext>
            </a:extLst>
          </p:cNvPr>
          <p:cNvSpPr txBox="1"/>
          <p:nvPr/>
        </p:nvSpPr>
        <p:spPr>
          <a:xfrm>
            <a:off x="1207008" y="3858768"/>
            <a:ext cx="4937760" cy="237744"/>
          </a:xfrm>
          <a:prstGeom prst="rect">
            <a:avLst/>
          </a:prstGeom>
          <a:noFill/>
          <a:ln/>
        </p:spPr>
        <p:txBody>
          <a:bodyPr wrap="square" lIns="0" tIns="0" rIns="0" bIns="0" rtlCol="0" anchor="ctr"/>
          <a:lstStyle/>
          <a:p>
            <a:pPr marL="0" indent="0">
              <a:buNone/>
            </a:pPr>
            <a:r>
              <a:rPr lang="en-US" sz="900" dirty="0">
                <a:solidFill>
                  <a:srgbClr val="8BA3C7"/>
                </a:solidFill>
                <a:latin typeface="Courier New" pitchFamily="34" charset="0"/>
                <a:ea typeface="Courier New" pitchFamily="34" charset="-122"/>
                <a:cs typeface="Courier New" pitchFamily="34" charset="-120"/>
              </a:rPr>
              <a:t>  └─ MLModelTool</a:t>
            </a:r>
            <a:endParaRPr lang="en-US" sz="900" dirty="0"/>
          </a:p>
        </p:txBody>
      </p:sp>
      <p:sp>
        <p:nvSpPr>
          <p:cNvPr id="16" name="Text 14">
            <a:extLst>
              <a:ext uri="{FF2B5EF4-FFF2-40B4-BE49-F238E27FC236}">
                <a16:creationId xmlns:a16="http://schemas.microsoft.com/office/drawing/2014/main" id="{CC84DB86-9065-65DB-D52A-CB50FA61852E}"/>
              </a:ext>
            </a:extLst>
          </p:cNvPr>
          <p:cNvSpPr txBox="1"/>
          <p:nvPr/>
        </p:nvSpPr>
        <p:spPr>
          <a:xfrm>
            <a:off x="1207008" y="4101084"/>
            <a:ext cx="4937760" cy="237744"/>
          </a:xfrm>
          <a:prstGeom prst="rect">
            <a:avLst/>
          </a:prstGeom>
          <a:noFill/>
          <a:ln/>
        </p:spPr>
        <p:txBody>
          <a:bodyPr wrap="square" lIns="0" tIns="0" rIns="0" bIns="0" rtlCol="0" anchor="ctr"/>
          <a:lstStyle/>
          <a:p>
            <a:pPr marL="0" indent="0">
              <a:buNone/>
            </a:pPr>
            <a:r>
              <a:rPr lang="en-US" sz="900" dirty="0">
                <a:solidFill>
                  <a:srgbClr val="2A3D58"/>
                </a:solidFill>
                <a:latin typeface="Courier New" pitchFamily="34" charset="0"/>
                <a:ea typeface="Courier New" pitchFamily="34" charset="-122"/>
                <a:cs typeface="Courier New" pitchFamily="34" charset="-120"/>
              </a:rPr>
              <a:t>       ↓  synthesise</a:t>
            </a:r>
            <a:endParaRPr lang="en-US" sz="900" dirty="0"/>
          </a:p>
        </p:txBody>
      </p:sp>
      <p:sp>
        <p:nvSpPr>
          <p:cNvPr id="17" name="Text 15">
            <a:extLst>
              <a:ext uri="{FF2B5EF4-FFF2-40B4-BE49-F238E27FC236}">
                <a16:creationId xmlns:a16="http://schemas.microsoft.com/office/drawing/2014/main" id="{47A73B3A-E949-9D31-F905-D93A1F33E38F}"/>
              </a:ext>
            </a:extLst>
          </p:cNvPr>
          <p:cNvSpPr txBox="1"/>
          <p:nvPr/>
        </p:nvSpPr>
        <p:spPr>
          <a:xfrm>
            <a:off x="1207008" y="4343400"/>
            <a:ext cx="4937760" cy="237744"/>
          </a:xfrm>
          <a:prstGeom prst="rect">
            <a:avLst/>
          </a:prstGeom>
          <a:noFill/>
          <a:ln/>
        </p:spPr>
        <p:txBody>
          <a:bodyPr wrap="square" lIns="0" tIns="0" rIns="0" bIns="0" rtlCol="0" anchor="ctr"/>
          <a:lstStyle/>
          <a:p>
            <a:pPr marL="0" indent="0">
              <a:buNone/>
            </a:pPr>
            <a:r>
              <a:rPr lang="en-US" sz="900" dirty="0">
                <a:solidFill>
                  <a:srgbClr val="00C8A0"/>
                </a:solidFill>
                <a:latin typeface="Courier New" pitchFamily="34" charset="0"/>
                <a:ea typeface="Courier New" pitchFamily="34" charset="-122"/>
                <a:cs typeface="Courier New" pitchFamily="34" charset="-120"/>
              </a:rPr>
              <a:t>  ranked_hypotheses</a:t>
            </a:r>
            <a:endParaRPr lang="en-US" sz="900" dirty="0"/>
          </a:p>
        </p:txBody>
      </p:sp>
      <p:sp>
        <p:nvSpPr>
          <p:cNvPr id="18" name="Shape 16">
            <a:extLst>
              <a:ext uri="{FF2B5EF4-FFF2-40B4-BE49-F238E27FC236}">
                <a16:creationId xmlns:a16="http://schemas.microsoft.com/office/drawing/2014/main" id="{F8648493-C7F8-21DF-F21F-CFC4BCB9778B}"/>
              </a:ext>
            </a:extLst>
          </p:cNvPr>
          <p:cNvSpPr/>
          <p:nvPr/>
        </p:nvSpPr>
        <p:spPr>
          <a:xfrm>
            <a:off x="5989320" y="1298448"/>
            <a:ext cx="2926080" cy="1554480"/>
          </a:xfrm>
          <a:prstGeom prst="roundRect">
            <a:avLst>
              <a:gd name="adj" fmla="val 5294"/>
            </a:avLst>
          </a:prstGeom>
          <a:solidFill>
            <a:srgbClr val="060E1F"/>
          </a:solidFill>
          <a:ln w="12700">
            <a:solidFill>
              <a:srgbClr val="4F7EFF"/>
            </a:solidFill>
            <a:prstDash val="solid"/>
          </a:ln>
        </p:spPr>
        <p:txBody>
          <a:bodyPr/>
          <a:lstStyle/>
          <a:p>
            <a:endParaRPr lang="en-US"/>
          </a:p>
        </p:txBody>
      </p:sp>
      <p:sp>
        <p:nvSpPr>
          <p:cNvPr id="19" name="Text 17">
            <a:extLst>
              <a:ext uri="{FF2B5EF4-FFF2-40B4-BE49-F238E27FC236}">
                <a16:creationId xmlns:a16="http://schemas.microsoft.com/office/drawing/2014/main" id="{9DDE033A-404D-8274-787C-DBC7DCF633EF}"/>
              </a:ext>
            </a:extLst>
          </p:cNvPr>
          <p:cNvSpPr txBox="1"/>
          <p:nvPr/>
        </p:nvSpPr>
        <p:spPr>
          <a:xfrm>
            <a:off x="6144768" y="1444752"/>
            <a:ext cx="2633472" cy="685800"/>
          </a:xfrm>
          <a:prstGeom prst="rect">
            <a:avLst/>
          </a:prstGeom>
          <a:noFill/>
          <a:ln/>
        </p:spPr>
        <p:txBody>
          <a:bodyPr wrap="square" lIns="0" tIns="0" rIns="0" bIns="0" rtlCol="0" anchor="ctr"/>
          <a:lstStyle/>
          <a:p>
            <a:pPr marL="0" indent="0">
              <a:buNone/>
            </a:pPr>
            <a:r>
              <a:rPr lang="en-US" sz="1400" b="1" dirty="0">
                <a:solidFill>
                  <a:srgbClr val="DDE7F7"/>
                </a:solidFill>
                <a:latin typeface="Cambria" pitchFamily="34" charset="0"/>
                <a:ea typeface="Cambria" pitchFamily="34" charset="-122"/>
                <a:cs typeface="Cambria" pitchFamily="34" charset="-120"/>
              </a:rPr>
              <a:t>Measure dwell time</a:t>
            </a:r>
            <a:endParaRPr lang="en-US" sz="1400" dirty="0"/>
          </a:p>
          <a:p>
            <a:pPr marL="0" indent="0">
              <a:buNone/>
            </a:pPr>
            <a:r>
              <a:rPr lang="en-US" sz="1400" b="1" dirty="0">
                <a:solidFill>
                  <a:srgbClr val="DDE7F7"/>
                </a:solidFill>
                <a:latin typeface="Cambria" pitchFamily="34" charset="0"/>
                <a:ea typeface="Cambria" pitchFamily="34" charset="-122"/>
                <a:cs typeface="Cambria" pitchFamily="34" charset="-120"/>
              </a:rPr>
              <a:t>before and after.</a:t>
            </a:r>
            <a:endParaRPr lang="en-US" sz="1400" dirty="0"/>
          </a:p>
        </p:txBody>
      </p:sp>
      <p:sp>
        <p:nvSpPr>
          <p:cNvPr id="20" name="Text 18">
            <a:extLst>
              <a:ext uri="{FF2B5EF4-FFF2-40B4-BE49-F238E27FC236}">
                <a16:creationId xmlns:a16="http://schemas.microsoft.com/office/drawing/2014/main" id="{43D84B3F-CC64-0C74-C68C-045D555C36BC}"/>
              </a:ext>
            </a:extLst>
          </p:cNvPr>
          <p:cNvSpPr txBox="1"/>
          <p:nvPr/>
        </p:nvSpPr>
        <p:spPr>
          <a:xfrm>
            <a:off x="6144768" y="2176272"/>
            <a:ext cx="2633472" cy="365760"/>
          </a:xfrm>
          <a:prstGeom prst="rect">
            <a:avLst/>
          </a:prstGeom>
          <a:noFill/>
          <a:ln/>
        </p:spPr>
        <p:txBody>
          <a:bodyPr wrap="square" lIns="0" tIns="0" rIns="0" bIns="0" rtlCol="0" anchor="ctr"/>
          <a:lstStyle/>
          <a:p>
            <a:pPr marL="0" indent="0">
              <a:buNone/>
            </a:pPr>
            <a:r>
              <a:rPr lang="en-US" sz="1100" i="1" dirty="0">
                <a:solidFill>
                  <a:srgbClr val="8BA3C7"/>
                </a:solidFill>
                <a:latin typeface="Calibri" pitchFamily="34" charset="0"/>
                <a:ea typeface="Calibri" pitchFamily="34" charset="-122"/>
                <a:cs typeface="Calibri" pitchFamily="34" charset="-120"/>
              </a:rPr>
              <a:t>That's your before-and-after.</a:t>
            </a:r>
            <a:endParaRPr lang="en-US" sz="1100" dirty="0"/>
          </a:p>
        </p:txBody>
      </p:sp>
      <p:sp>
        <p:nvSpPr>
          <p:cNvPr id="21" name="Shape 19">
            <a:extLst>
              <a:ext uri="{FF2B5EF4-FFF2-40B4-BE49-F238E27FC236}">
                <a16:creationId xmlns:a16="http://schemas.microsoft.com/office/drawing/2014/main" id="{FF709CF0-4E72-662F-21A0-9C5E96E70DAC}"/>
              </a:ext>
            </a:extLst>
          </p:cNvPr>
          <p:cNvSpPr/>
          <p:nvPr/>
        </p:nvSpPr>
        <p:spPr>
          <a:xfrm>
            <a:off x="5989320" y="3136392"/>
            <a:ext cx="118872" cy="118872"/>
          </a:xfrm>
          <a:prstGeom prst="ellipse">
            <a:avLst/>
          </a:prstGeom>
          <a:solidFill>
            <a:srgbClr val="00C8A0"/>
          </a:solidFill>
          <a:ln w="12700">
            <a:solidFill>
              <a:srgbClr val="080C18"/>
            </a:solidFill>
            <a:prstDash val="solid"/>
          </a:ln>
        </p:spPr>
        <p:txBody>
          <a:bodyPr/>
          <a:lstStyle/>
          <a:p>
            <a:endParaRPr lang="en-US"/>
          </a:p>
        </p:txBody>
      </p:sp>
      <p:sp>
        <p:nvSpPr>
          <p:cNvPr id="22" name="Text 20">
            <a:extLst>
              <a:ext uri="{FF2B5EF4-FFF2-40B4-BE49-F238E27FC236}">
                <a16:creationId xmlns:a16="http://schemas.microsoft.com/office/drawing/2014/main" id="{F1F3111D-75D7-03F6-3D74-9C3EFD6CAAD6}"/>
              </a:ext>
            </a:extLst>
          </p:cNvPr>
          <p:cNvSpPr txBox="1"/>
          <p:nvPr/>
        </p:nvSpPr>
        <p:spPr>
          <a:xfrm>
            <a:off x="6172200" y="3063240"/>
            <a:ext cx="2743200" cy="347472"/>
          </a:xfrm>
          <a:prstGeom prst="rect">
            <a:avLst/>
          </a:prstGeom>
          <a:noFill/>
          <a:ln/>
        </p:spPr>
        <p:txBody>
          <a:bodyPr wrap="square" lIns="0" tIns="0" rIns="0" bIns="0" rtlCol="0" anchor="ctr"/>
          <a:lstStyle/>
          <a:p>
            <a:pPr marL="0" indent="0">
              <a:buNone/>
            </a:pPr>
            <a:r>
              <a:rPr lang="en-US" sz="1050" dirty="0">
                <a:solidFill>
                  <a:srgbClr val="8BA3C7"/>
                </a:solidFill>
                <a:latin typeface="Calibri" pitchFamily="34" charset="0"/>
                <a:ea typeface="Calibri" pitchFamily="34" charset="-122"/>
                <a:cs typeface="Calibri" pitchFamily="34" charset="-120"/>
              </a:rPr>
              <a:t>Wire detector → monitor → agent once</a:t>
            </a:r>
            <a:endParaRPr lang="en-US" sz="1050" dirty="0"/>
          </a:p>
        </p:txBody>
      </p:sp>
      <p:sp>
        <p:nvSpPr>
          <p:cNvPr id="23" name="Shape 21">
            <a:extLst>
              <a:ext uri="{FF2B5EF4-FFF2-40B4-BE49-F238E27FC236}">
                <a16:creationId xmlns:a16="http://schemas.microsoft.com/office/drawing/2014/main" id="{459E205C-B243-7421-0F9E-002FA04AA0DF}"/>
              </a:ext>
            </a:extLst>
          </p:cNvPr>
          <p:cNvSpPr/>
          <p:nvPr/>
        </p:nvSpPr>
        <p:spPr>
          <a:xfrm>
            <a:off x="5989320" y="3557016"/>
            <a:ext cx="118872" cy="118872"/>
          </a:xfrm>
          <a:prstGeom prst="ellipse">
            <a:avLst/>
          </a:prstGeom>
          <a:solidFill>
            <a:srgbClr val="00C8A0"/>
          </a:solidFill>
          <a:ln w="12700">
            <a:solidFill>
              <a:srgbClr val="080C18"/>
            </a:solidFill>
            <a:prstDash val="solid"/>
          </a:ln>
        </p:spPr>
        <p:txBody>
          <a:bodyPr/>
          <a:lstStyle/>
          <a:p>
            <a:endParaRPr lang="en-US"/>
          </a:p>
        </p:txBody>
      </p:sp>
      <p:sp>
        <p:nvSpPr>
          <p:cNvPr id="24" name="Text 22">
            <a:extLst>
              <a:ext uri="{FF2B5EF4-FFF2-40B4-BE49-F238E27FC236}">
                <a16:creationId xmlns:a16="http://schemas.microsoft.com/office/drawing/2014/main" id="{D0F84323-595A-0CBE-6E87-3B97EA8B8BDD}"/>
              </a:ext>
            </a:extLst>
          </p:cNvPr>
          <p:cNvSpPr txBox="1"/>
          <p:nvPr/>
        </p:nvSpPr>
        <p:spPr>
          <a:xfrm>
            <a:off x="6172200" y="3483864"/>
            <a:ext cx="2743200" cy="347472"/>
          </a:xfrm>
          <a:prstGeom prst="rect">
            <a:avLst/>
          </a:prstGeom>
          <a:noFill/>
          <a:ln/>
        </p:spPr>
        <p:txBody>
          <a:bodyPr wrap="square" lIns="0" tIns="0" rIns="0" bIns="0" rtlCol="0" anchor="ctr"/>
          <a:lstStyle/>
          <a:p>
            <a:pPr marL="0" indent="0">
              <a:buNone/>
            </a:pPr>
            <a:r>
              <a:rPr lang="en-US" sz="1050" dirty="0">
                <a:solidFill>
                  <a:srgbClr val="8BA3C7"/>
                </a:solidFill>
                <a:latin typeface="Calibri" pitchFamily="34" charset="0"/>
                <a:ea typeface="Calibri" pitchFamily="34" charset="-122"/>
                <a:cs typeface="Calibri" pitchFamily="34" charset="-120"/>
              </a:rPr>
              <a:t>Scope each tool to one bounded query</a:t>
            </a:r>
            <a:endParaRPr lang="en-US" sz="1050" dirty="0"/>
          </a:p>
        </p:txBody>
      </p:sp>
      <p:sp>
        <p:nvSpPr>
          <p:cNvPr id="25" name="Shape 23">
            <a:extLst>
              <a:ext uri="{FF2B5EF4-FFF2-40B4-BE49-F238E27FC236}">
                <a16:creationId xmlns:a16="http://schemas.microsoft.com/office/drawing/2014/main" id="{3B94D500-A57E-8AA4-A19F-39750DA4B4E6}"/>
              </a:ext>
            </a:extLst>
          </p:cNvPr>
          <p:cNvSpPr/>
          <p:nvPr/>
        </p:nvSpPr>
        <p:spPr>
          <a:xfrm>
            <a:off x="5989320" y="3977640"/>
            <a:ext cx="118872" cy="118872"/>
          </a:xfrm>
          <a:prstGeom prst="ellipse">
            <a:avLst/>
          </a:prstGeom>
          <a:solidFill>
            <a:srgbClr val="00C8A0"/>
          </a:solidFill>
          <a:ln w="12700">
            <a:solidFill>
              <a:srgbClr val="080C18"/>
            </a:solidFill>
            <a:prstDash val="solid"/>
          </a:ln>
        </p:spPr>
        <p:txBody>
          <a:bodyPr/>
          <a:lstStyle/>
          <a:p>
            <a:endParaRPr lang="en-US"/>
          </a:p>
        </p:txBody>
      </p:sp>
      <p:sp>
        <p:nvSpPr>
          <p:cNvPr id="26" name="Text 24">
            <a:extLst>
              <a:ext uri="{FF2B5EF4-FFF2-40B4-BE49-F238E27FC236}">
                <a16:creationId xmlns:a16="http://schemas.microsoft.com/office/drawing/2014/main" id="{D6C39DB2-8BE9-84F5-30E0-177C25B8D0F9}"/>
              </a:ext>
            </a:extLst>
          </p:cNvPr>
          <p:cNvSpPr txBox="1"/>
          <p:nvPr/>
        </p:nvSpPr>
        <p:spPr>
          <a:xfrm>
            <a:off x="6172200" y="3904488"/>
            <a:ext cx="2743200" cy="347472"/>
          </a:xfrm>
          <a:prstGeom prst="rect">
            <a:avLst/>
          </a:prstGeom>
          <a:noFill/>
          <a:ln/>
        </p:spPr>
        <p:txBody>
          <a:bodyPr wrap="square" lIns="0" tIns="0" rIns="0" bIns="0" rtlCol="0" anchor="ctr"/>
          <a:lstStyle/>
          <a:p>
            <a:pPr marL="0" indent="0">
              <a:buNone/>
            </a:pPr>
            <a:r>
              <a:rPr lang="en-US" sz="1050" dirty="0">
                <a:solidFill>
                  <a:srgbClr val="8BA3C7"/>
                </a:solidFill>
                <a:latin typeface="Calibri" pitchFamily="34" charset="0"/>
                <a:ea typeface="Calibri" pitchFamily="34" charset="-122"/>
                <a:cs typeface="Calibri" pitchFamily="34" charset="-120"/>
              </a:rPr>
              <a:t>Ship first; measure dwell time as your KPI</a:t>
            </a:r>
            <a:endParaRPr lang="en-US" sz="1050" dirty="0"/>
          </a:p>
        </p:txBody>
      </p:sp>
      <p:sp>
        <p:nvSpPr>
          <p:cNvPr id="27" name="Shape 25">
            <a:extLst>
              <a:ext uri="{FF2B5EF4-FFF2-40B4-BE49-F238E27FC236}">
                <a16:creationId xmlns:a16="http://schemas.microsoft.com/office/drawing/2014/main" id="{8EF2DAC0-0D60-425F-0334-94C6BC01863B}"/>
              </a:ext>
            </a:extLst>
          </p:cNvPr>
          <p:cNvSpPr/>
          <p:nvPr/>
        </p:nvSpPr>
        <p:spPr>
          <a:xfrm>
            <a:off x="5989320" y="4398264"/>
            <a:ext cx="118872" cy="118872"/>
          </a:xfrm>
          <a:prstGeom prst="ellipse">
            <a:avLst/>
          </a:prstGeom>
          <a:solidFill>
            <a:srgbClr val="00C8A0"/>
          </a:solidFill>
          <a:ln w="12700">
            <a:solidFill>
              <a:srgbClr val="080C18"/>
            </a:solidFill>
            <a:prstDash val="solid"/>
          </a:ln>
        </p:spPr>
        <p:txBody>
          <a:bodyPr/>
          <a:lstStyle/>
          <a:p>
            <a:endParaRPr lang="en-US"/>
          </a:p>
        </p:txBody>
      </p:sp>
      <p:sp>
        <p:nvSpPr>
          <p:cNvPr id="28" name="Text 26">
            <a:extLst>
              <a:ext uri="{FF2B5EF4-FFF2-40B4-BE49-F238E27FC236}">
                <a16:creationId xmlns:a16="http://schemas.microsoft.com/office/drawing/2014/main" id="{15B6598D-F768-74B4-4907-9E332F1014E1}"/>
              </a:ext>
            </a:extLst>
          </p:cNvPr>
          <p:cNvSpPr txBox="1"/>
          <p:nvPr/>
        </p:nvSpPr>
        <p:spPr>
          <a:xfrm>
            <a:off x="6172200" y="4325112"/>
            <a:ext cx="2743200" cy="347472"/>
          </a:xfrm>
          <a:prstGeom prst="rect">
            <a:avLst/>
          </a:prstGeom>
          <a:noFill/>
          <a:ln/>
        </p:spPr>
        <p:txBody>
          <a:bodyPr wrap="square" lIns="0" tIns="0" rIns="0" bIns="0" rtlCol="0" anchor="ctr"/>
          <a:lstStyle/>
          <a:p>
            <a:pPr marL="0" indent="0">
              <a:buNone/>
            </a:pPr>
            <a:r>
              <a:rPr lang="en-US" sz="1050" dirty="0">
                <a:solidFill>
                  <a:srgbClr val="8BA3C7"/>
                </a:solidFill>
                <a:latin typeface="Calibri" pitchFamily="34" charset="0"/>
                <a:ea typeface="Calibri" pitchFamily="34" charset="-122"/>
                <a:cs typeface="Calibri" pitchFamily="34" charset="-120"/>
              </a:rPr>
              <a:t>Tune detection before adding more tools</a:t>
            </a:r>
            <a:endParaRPr lang="en-US" sz="1050" dirty="0"/>
          </a:p>
        </p:txBody>
      </p:sp>
    </p:spTree>
    <p:extLst>
      <p:ext uri="{BB962C8B-B14F-4D97-AF65-F5344CB8AC3E}">
        <p14:creationId xmlns:p14="http://schemas.microsoft.com/office/powerpoint/2010/main" val="346052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par>
                          <p:cTn id="52" fill="hold">
                            <p:stCondLst>
                              <p:cond delay="1500"/>
                            </p:stCondLst>
                            <p:childTnLst>
                              <p:par>
                                <p:cTn id="53" presetID="10" presetClass="entr" presetSubtype="0"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par>
                          <p:cTn id="56" fill="hold">
                            <p:stCondLst>
                              <p:cond delay="2000"/>
                            </p:stCondLst>
                            <p:childTnLst>
                              <p:par>
                                <p:cTn id="57" presetID="10" presetClass="entr" presetSubtype="0"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500"/>
                                        <p:tgtEl>
                                          <p:spTgt spid="2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500"/>
                                        <p:tgtEl>
                                          <p:spTgt spid="2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500"/>
                                        <p:tgtEl>
                                          <p:spTgt spid="2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500"/>
                                        <p:tgtEl>
                                          <p:spTgt spid="2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500"/>
                                        <p:tgtEl>
                                          <p:spTgt spid="24"/>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00"/>
                                        <p:tgtEl>
                                          <p:spTgt spid="2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500"/>
                                        <p:tgtEl>
                                          <p:spTgt spid="26"/>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27"/>
                                        </p:tgtEl>
                                        <p:attrNameLst>
                                          <p:attrName>style.visibility</p:attrName>
                                        </p:attrNameLst>
                                      </p:cBhvr>
                                      <p:to>
                                        <p:strVal val="visible"/>
                                      </p:to>
                                    </p:set>
                                    <p:animEffect transition="in" filter="fade">
                                      <p:cBhvr>
                                        <p:cTn id="108" dur="500"/>
                                        <p:tgtEl>
                                          <p:spTgt spid="2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80C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01168"/>
          </a:xfrm>
          <a:prstGeom prst="rect">
            <a:avLst/>
          </a:prstGeom>
          <a:noFill/>
          <a:ln/>
        </p:spPr>
        <p:txBody>
          <a:bodyPr wrap="square" rtlCol="0" anchor="ctr"/>
          <a:lstStyle/>
          <a:p>
            <a:pPr marL="0" indent="0">
              <a:buNone/>
            </a:pPr>
            <a:r>
              <a:rPr lang="en-US" sz="800" kern="0" spc="500" dirty="0">
                <a:solidFill>
                  <a:schemeClr val="bg2"/>
                </a:solidFill>
                <a:latin typeface="Calibri" pitchFamily="34" charset="0"/>
                <a:ea typeface="Calibri" pitchFamily="34" charset="-122"/>
                <a:cs typeface="Calibri" pitchFamily="34" charset="-120"/>
              </a:rPr>
              <a:t>THANK YOU</a:t>
            </a:r>
            <a:endParaRPr lang="en-US" sz="800" dirty="0">
              <a:solidFill>
                <a:schemeClr val="bg2"/>
              </a:solidFill>
            </a:endParaRPr>
          </a:p>
        </p:txBody>
      </p:sp>
      <p:sp>
        <p:nvSpPr>
          <p:cNvPr id="3" name="Text 1"/>
          <p:cNvSpPr txBox="1"/>
          <p:nvPr/>
        </p:nvSpPr>
        <p:spPr>
          <a:xfrm>
            <a:off x="548640" y="987552"/>
            <a:ext cx="3657600" cy="256032"/>
          </a:xfrm>
          <a:prstGeom prst="rect">
            <a:avLst/>
          </a:prstGeom>
          <a:noFill/>
          <a:ln/>
        </p:spPr>
        <p:txBody>
          <a:bodyPr wrap="square" rtlCol="0" anchor="ctr"/>
          <a:lstStyle/>
          <a:p>
            <a:pPr marL="0" indent="0">
              <a:buNone/>
            </a:pPr>
            <a:r>
              <a:rPr lang="en-US" sz="900" kern="0" spc="800" dirty="0">
                <a:solidFill>
                  <a:schemeClr val="bg2"/>
                </a:solidFill>
                <a:latin typeface="Calibri" pitchFamily="34" charset="0"/>
                <a:ea typeface="Calibri" pitchFamily="34" charset="-122"/>
                <a:cs typeface="Calibri" pitchFamily="34" charset="-120"/>
              </a:rPr>
              <a:t>FROM</a:t>
            </a:r>
            <a:endParaRPr lang="en-US" sz="900" dirty="0">
              <a:solidFill>
                <a:schemeClr val="bg2"/>
              </a:solidFill>
            </a:endParaRPr>
          </a:p>
        </p:txBody>
      </p:sp>
      <p:sp>
        <p:nvSpPr>
          <p:cNvPr id="4" name="Text 2"/>
          <p:cNvSpPr txBox="1"/>
          <p:nvPr/>
        </p:nvSpPr>
        <p:spPr>
          <a:xfrm>
            <a:off x="502920" y="1207008"/>
            <a:ext cx="4114800" cy="1152144"/>
          </a:xfrm>
          <a:prstGeom prst="rect">
            <a:avLst/>
          </a:prstGeom>
          <a:noFill/>
          <a:ln/>
        </p:spPr>
        <p:txBody>
          <a:bodyPr wrap="square" lIns="0" tIns="0" rIns="0" bIns="0" rtlCol="0" anchor="ctr"/>
          <a:lstStyle/>
          <a:p>
            <a:pPr marL="0" indent="0">
              <a:buNone/>
            </a:pPr>
            <a:r>
              <a:rPr lang="en-US" sz="7800" b="1" dirty="0">
                <a:solidFill>
                  <a:srgbClr val="FF6130"/>
                </a:solidFill>
                <a:latin typeface="Cambria" pitchFamily="34" charset="0"/>
                <a:ea typeface="Cambria" pitchFamily="34" charset="-122"/>
                <a:cs typeface="Cambria" pitchFamily="34" charset="-120"/>
              </a:rPr>
              <a:t>ALERT</a:t>
            </a:r>
            <a:endParaRPr lang="en-US" sz="7800" dirty="0"/>
          </a:p>
        </p:txBody>
      </p:sp>
      <p:sp>
        <p:nvSpPr>
          <p:cNvPr id="5" name="Text 3"/>
          <p:cNvSpPr txBox="1"/>
          <p:nvPr/>
        </p:nvSpPr>
        <p:spPr>
          <a:xfrm>
            <a:off x="4023360" y="1481328"/>
            <a:ext cx="1005840" cy="731520"/>
          </a:xfrm>
          <a:prstGeom prst="rect">
            <a:avLst/>
          </a:prstGeom>
          <a:noFill/>
          <a:ln/>
        </p:spPr>
        <p:txBody>
          <a:bodyPr wrap="square" lIns="0" tIns="0" rIns="0" bIns="0" rtlCol="0" anchor="ctr"/>
          <a:lstStyle/>
          <a:p>
            <a:pPr marL="0" indent="0" algn="ctr">
              <a:buNone/>
            </a:pPr>
            <a:r>
              <a:rPr lang="en-US" sz="3600" dirty="0">
                <a:solidFill>
                  <a:srgbClr val="2A3D58"/>
                </a:solidFill>
                <a:latin typeface="Calibri" pitchFamily="34" charset="0"/>
                <a:ea typeface="Calibri" pitchFamily="34" charset="-122"/>
                <a:cs typeface="Calibri" pitchFamily="34" charset="-120"/>
              </a:rPr>
              <a:t>→</a:t>
            </a:r>
            <a:endParaRPr lang="en-US" sz="3600" dirty="0"/>
          </a:p>
        </p:txBody>
      </p:sp>
      <p:sp>
        <p:nvSpPr>
          <p:cNvPr id="6" name="Text 4"/>
          <p:cNvSpPr txBox="1"/>
          <p:nvPr/>
        </p:nvSpPr>
        <p:spPr>
          <a:xfrm>
            <a:off x="5029200" y="987552"/>
            <a:ext cx="3657600" cy="256032"/>
          </a:xfrm>
          <a:prstGeom prst="rect">
            <a:avLst/>
          </a:prstGeom>
          <a:noFill/>
          <a:ln/>
        </p:spPr>
        <p:txBody>
          <a:bodyPr wrap="square" rtlCol="0" anchor="ctr"/>
          <a:lstStyle/>
          <a:p>
            <a:pPr marL="0" indent="0">
              <a:buNone/>
            </a:pPr>
            <a:r>
              <a:rPr lang="en-US" sz="900" kern="0" spc="800" dirty="0">
                <a:solidFill>
                  <a:schemeClr val="bg2"/>
                </a:solidFill>
                <a:latin typeface="Calibri" pitchFamily="34" charset="0"/>
                <a:ea typeface="Calibri" pitchFamily="34" charset="-122"/>
                <a:cs typeface="Calibri" pitchFamily="34" charset="-120"/>
              </a:rPr>
              <a:t>TO</a:t>
            </a:r>
            <a:endParaRPr lang="en-US" sz="900" dirty="0">
              <a:solidFill>
                <a:schemeClr val="bg2"/>
              </a:solidFill>
            </a:endParaRPr>
          </a:p>
        </p:txBody>
      </p:sp>
      <p:sp>
        <p:nvSpPr>
          <p:cNvPr id="7" name="Text 5"/>
          <p:cNvSpPr txBox="1"/>
          <p:nvPr/>
        </p:nvSpPr>
        <p:spPr>
          <a:xfrm>
            <a:off x="5029200" y="1207008"/>
            <a:ext cx="3840480" cy="1152144"/>
          </a:xfrm>
          <a:prstGeom prst="rect">
            <a:avLst/>
          </a:prstGeom>
          <a:noFill/>
          <a:ln/>
        </p:spPr>
        <p:txBody>
          <a:bodyPr wrap="square" lIns="0" tIns="0" rIns="0" bIns="0" rtlCol="0" anchor="ctr"/>
          <a:lstStyle/>
          <a:p>
            <a:pPr marL="0" indent="0">
              <a:buNone/>
            </a:pPr>
            <a:r>
              <a:rPr lang="en-US" sz="6300" b="1" dirty="0">
                <a:solidFill>
                  <a:srgbClr val="00C8A0"/>
                </a:solidFill>
                <a:latin typeface="Cambria" pitchFamily="34" charset="0"/>
                <a:ea typeface="Cambria" pitchFamily="34" charset="-122"/>
                <a:cs typeface="Cambria" pitchFamily="34" charset="-120"/>
              </a:rPr>
              <a:t>ANSWER</a:t>
            </a:r>
            <a:endParaRPr lang="en-US" sz="6300" dirty="0"/>
          </a:p>
        </p:txBody>
      </p:sp>
      <p:sp>
        <p:nvSpPr>
          <p:cNvPr id="10" name="Shape 8"/>
          <p:cNvSpPr/>
          <p:nvPr/>
        </p:nvSpPr>
        <p:spPr>
          <a:xfrm>
            <a:off x="548640" y="3310128"/>
            <a:ext cx="109728" cy="109728"/>
          </a:xfrm>
          <a:prstGeom prst="ellipse">
            <a:avLst/>
          </a:prstGeom>
          <a:solidFill>
            <a:srgbClr val="00C8A0"/>
          </a:solidFill>
          <a:ln w="12700">
            <a:solidFill>
              <a:srgbClr val="080C18"/>
            </a:solidFill>
            <a:prstDash val="solid"/>
          </a:ln>
        </p:spPr>
        <p:txBody>
          <a:bodyPr/>
          <a:lstStyle/>
          <a:p>
            <a:endParaRPr lang="en-US"/>
          </a:p>
        </p:txBody>
      </p:sp>
      <p:sp>
        <p:nvSpPr>
          <p:cNvPr id="11" name="Text 9"/>
          <p:cNvSpPr txBox="1"/>
          <p:nvPr/>
        </p:nvSpPr>
        <p:spPr>
          <a:xfrm>
            <a:off x="731520" y="3218688"/>
            <a:ext cx="8046720" cy="320040"/>
          </a:xfrm>
          <a:prstGeom prst="rect">
            <a:avLst/>
          </a:prstGeom>
          <a:noFill/>
          <a:ln/>
        </p:spPr>
        <p:txBody>
          <a:bodyPr wrap="square" lIns="0" tIns="0" rIns="0" bIns="0" rtlCol="0" anchor="ctr"/>
          <a:lstStyle/>
          <a:p>
            <a:pPr marL="0" indent="0">
              <a:buNone/>
            </a:pPr>
            <a:r>
              <a:rPr lang="en-US" sz="1100" dirty="0">
                <a:solidFill>
                  <a:srgbClr val="8BA3C7"/>
                </a:solidFill>
                <a:latin typeface="Calibri" pitchFamily="34" charset="0"/>
                <a:ea typeface="Calibri" pitchFamily="34" charset="-122"/>
                <a:cs typeface="Calibri" pitchFamily="34" charset="-120"/>
              </a:rPr>
              <a:t>The agent is in the repo.</a:t>
            </a:r>
            <a:endParaRPr lang="en-US" sz="1100" dirty="0"/>
          </a:p>
        </p:txBody>
      </p:sp>
      <p:sp>
        <p:nvSpPr>
          <p:cNvPr id="12" name="Shape 10"/>
          <p:cNvSpPr/>
          <p:nvPr/>
        </p:nvSpPr>
        <p:spPr>
          <a:xfrm>
            <a:off x="548640" y="3703320"/>
            <a:ext cx="109728" cy="109728"/>
          </a:xfrm>
          <a:prstGeom prst="ellipse">
            <a:avLst/>
          </a:prstGeom>
          <a:solidFill>
            <a:srgbClr val="00C8A0"/>
          </a:solidFill>
          <a:ln w="12700">
            <a:solidFill>
              <a:srgbClr val="080C18"/>
            </a:solidFill>
            <a:prstDash val="solid"/>
          </a:ln>
        </p:spPr>
        <p:txBody>
          <a:bodyPr/>
          <a:lstStyle/>
          <a:p>
            <a:endParaRPr lang="en-US"/>
          </a:p>
        </p:txBody>
      </p:sp>
      <p:sp>
        <p:nvSpPr>
          <p:cNvPr id="13" name="Text 11"/>
          <p:cNvSpPr txBox="1"/>
          <p:nvPr/>
        </p:nvSpPr>
        <p:spPr>
          <a:xfrm>
            <a:off x="731520" y="3611880"/>
            <a:ext cx="8046720" cy="320040"/>
          </a:xfrm>
          <a:prstGeom prst="rect">
            <a:avLst/>
          </a:prstGeom>
          <a:noFill/>
          <a:ln/>
        </p:spPr>
        <p:txBody>
          <a:bodyPr wrap="square" lIns="0" tIns="0" rIns="0" bIns="0" rtlCol="0" anchor="ctr"/>
          <a:lstStyle/>
          <a:p>
            <a:pPr marL="0" indent="0">
              <a:buNone/>
            </a:pPr>
            <a:r>
              <a:rPr lang="en-US" sz="1100" dirty="0">
                <a:solidFill>
                  <a:srgbClr val="8BA3C7"/>
                </a:solidFill>
                <a:latin typeface="Calibri" pitchFamily="34" charset="0"/>
                <a:ea typeface="Calibri" pitchFamily="34" charset="-122"/>
                <a:cs typeface="Calibri" pitchFamily="34" charset="-120"/>
              </a:rPr>
              <a:t>The alerting loop is wired up.</a:t>
            </a:r>
            <a:endParaRPr lang="en-US" sz="1100" dirty="0"/>
          </a:p>
        </p:txBody>
      </p:sp>
      <p:sp>
        <p:nvSpPr>
          <p:cNvPr id="14" name="Shape 12"/>
          <p:cNvSpPr/>
          <p:nvPr/>
        </p:nvSpPr>
        <p:spPr>
          <a:xfrm>
            <a:off x="548640" y="4096512"/>
            <a:ext cx="109728" cy="109728"/>
          </a:xfrm>
          <a:prstGeom prst="ellipse">
            <a:avLst/>
          </a:prstGeom>
          <a:solidFill>
            <a:srgbClr val="00C8A0"/>
          </a:solidFill>
          <a:ln w="12700">
            <a:solidFill>
              <a:srgbClr val="080C18"/>
            </a:solidFill>
            <a:prstDash val="solid"/>
          </a:ln>
        </p:spPr>
        <p:txBody>
          <a:bodyPr/>
          <a:lstStyle/>
          <a:p>
            <a:endParaRPr lang="en-US"/>
          </a:p>
        </p:txBody>
      </p:sp>
      <p:sp>
        <p:nvSpPr>
          <p:cNvPr id="15" name="Text 13"/>
          <p:cNvSpPr txBox="1"/>
          <p:nvPr/>
        </p:nvSpPr>
        <p:spPr>
          <a:xfrm>
            <a:off x="731520" y="4005072"/>
            <a:ext cx="8046720" cy="320040"/>
          </a:xfrm>
          <a:prstGeom prst="rect">
            <a:avLst/>
          </a:prstGeom>
          <a:noFill/>
          <a:ln/>
        </p:spPr>
        <p:txBody>
          <a:bodyPr wrap="square" lIns="0" tIns="0" rIns="0" bIns="0" rtlCol="0" anchor="ctr"/>
          <a:lstStyle/>
          <a:p>
            <a:pPr marL="0" indent="0">
              <a:buNone/>
            </a:pPr>
            <a:r>
              <a:rPr lang="en-US" sz="1100" dirty="0">
                <a:solidFill>
                  <a:srgbClr val="8BA3C7"/>
                </a:solidFill>
                <a:latin typeface="Calibri" pitchFamily="34" charset="0"/>
                <a:ea typeface="Calibri" pitchFamily="34" charset="-122"/>
                <a:cs typeface="Calibri" pitchFamily="34" charset="-120"/>
              </a:rPr>
              <a:t>The failure modes are real.</a:t>
            </a:r>
            <a:endParaRPr lang="en-US" sz="1100" dirty="0"/>
          </a:p>
        </p:txBody>
      </p:sp>
      <p:sp>
        <p:nvSpPr>
          <p:cNvPr id="16" name="Shape 14"/>
          <p:cNvSpPr/>
          <p:nvPr/>
        </p:nvSpPr>
        <p:spPr>
          <a:xfrm>
            <a:off x="548640" y="4489704"/>
            <a:ext cx="109728" cy="109728"/>
          </a:xfrm>
          <a:prstGeom prst="ellipse">
            <a:avLst/>
          </a:prstGeom>
          <a:solidFill>
            <a:srgbClr val="2A3D58"/>
          </a:solidFill>
          <a:ln w="12700">
            <a:solidFill>
              <a:srgbClr val="080C18"/>
            </a:solidFill>
            <a:prstDash val="solid"/>
          </a:ln>
        </p:spPr>
        <p:txBody>
          <a:bodyPr/>
          <a:lstStyle/>
          <a:p>
            <a:endParaRPr lang="en-US"/>
          </a:p>
        </p:txBody>
      </p:sp>
      <p:sp>
        <p:nvSpPr>
          <p:cNvPr id="17" name="Text 15"/>
          <p:cNvSpPr txBox="1"/>
          <p:nvPr/>
        </p:nvSpPr>
        <p:spPr>
          <a:xfrm>
            <a:off x="731520" y="4398264"/>
            <a:ext cx="8046720" cy="320040"/>
          </a:xfrm>
          <a:prstGeom prst="rect">
            <a:avLst/>
          </a:prstGeom>
          <a:noFill/>
          <a:ln/>
        </p:spPr>
        <p:txBody>
          <a:bodyPr wrap="square" lIns="0" tIns="0" rIns="0" bIns="0" rtlCol="0" anchor="ctr"/>
          <a:lstStyle/>
          <a:p>
            <a:pPr marL="0" indent="0">
              <a:buNone/>
            </a:pPr>
            <a:r>
              <a:rPr lang="en-US" sz="1100" dirty="0">
                <a:solidFill>
                  <a:schemeClr val="bg2"/>
                </a:solidFill>
                <a:latin typeface="Calibri" pitchFamily="34" charset="0"/>
                <a:ea typeface="Calibri" pitchFamily="34" charset="-122"/>
                <a:cs typeface="Calibri" pitchFamily="34" charset="-120"/>
              </a:rPr>
              <a:t>Questions welcome — especially the ones about production.</a:t>
            </a:r>
            <a:endParaRPr lang="en-US" sz="1100" dirty="0">
              <a:solidFill>
                <a:schemeClr val="bg2"/>
              </a:solidFill>
            </a:endParaRPr>
          </a:p>
        </p:txBody>
      </p:sp>
      <p:pic>
        <p:nvPicPr>
          <p:cNvPr id="8" name="Picture 7">
            <a:extLst>
              <a:ext uri="{FF2B5EF4-FFF2-40B4-BE49-F238E27FC236}">
                <a16:creationId xmlns:a16="http://schemas.microsoft.com/office/drawing/2014/main" id="{5538650D-B72F-10D4-287C-49C201A14F83}"/>
              </a:ext>
            </a:extLst>
          </p:cNvPr>
          <p:cNvPicPr>
            <a:picLocks noChangeAspect="1"/>
          </p:cNvPicPr>
          <p:nvPr/>
        </p:nvPicPr>
        <p:blipFill>
          <a:blip r:embed="rId3"/>
          <a:stretch>
            <a:fillRect/>
          </a:stretch>
        </p:blipFill>
        <p:spPr>
          <a:xfrm>
            <a:off x="5470032" y="2459943"/>
            <a:ext cx="2239316" cy="23038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A2B"/>
        </a:solidFill>
        <a:effectLst/>
      </p:bgPr>
    </p:bg>
    <p:spTree>
      <p:nvGrpSpPr>
        <p:cNvPr id="1" name=""/>
        <p:cNvGrpSpPr/>
        <p:nvPr/>
      </p:nvGrpSpPr>
      <p:grpSpPr>
        <a:xfrm>
          <a:off x="0" y="0"/>
          <a:ext cx="0" cy="0"/>
          <a:chOff x="0" y="0"/>
          <a:chExt cx="0" cy="0"/>
        </a:xfrm>
      </p:grpSpPr>
      <p:sp>
        <p:nvSpPr>
          <p:cNvPr id="100" name="Text 100"/>
          <p:cNvSpPr txBox="1"/>
          <p:nvPr/>
        </p:nvSpPr>
        <p:spPr>
          <a:xfrm>
            <a:off x="571500" y="650082"/>
            <a:ext cx="8001000" cy="607219"/>
          </a:xfrm>
          <a:prstGeom prst="rect">
            <a:avLst/>
          </a:prstGeom>
          <a:noFill/>
          <a:ln>
            <a:noFill/>
          </a:ln>
        </p:spPr>
        <p:txBody>
          <a:bodyPr wrap="square" lIns="0" tIns="0" rIns="0" bIns="0" anchor="t"/>
          <a:lstStyle/>
          <a:p>
            <a:pPr defTabSz="342900">
              <a:lnSpc>
                <a:spcPct val="110000"/>
              </a:lnSpc>
            </a:pPr>
            <a:r>
              <a:rPr lang="en-US" sz="2700" b="1">
                <a:solidFill>
                  <a:srgbClr val="E9EFF7"/>
                </a:solidFill>
                <a:latin typeface="Avenir Next"/>
              </a:rPr>
              <a:t>Resources and contacts</a:t>
            </a:r>
          </a:p>
        </p:txBody>
      </p:sp>
      <p:sp>
        <p:nvSpPr>
          <p:cNvPr id="101" name="Text 101"/>
          <p:cNvSpPr txBox="1"/>
          <p:nvPr/>
        </p:nvSpPr>
        <p:spPr>
          <a:xfrm>
            <a:off x="571500" y="1285875"/>
            <a:ext cx="8001000" cy="342900"/>
          </a:xfrm>
          <a:prstGeom prst="rect">
            <a:avLst/>
          </a:prstGeom>
          <a:noFill/>
          <a:ln>
            <a:noFill/>
          </a:ln>
        </p:spPr>
        <p:txBody>
          <a:bodyPr wrap="square" lIns="0" tIns="0" rIns="0" bIns="0" anchor="t"/>
          <a:lstStyle/>
          <a:p>
            <a:pPr defTabSz="342900">
              <a:lnSpc>
                <a:spcPct val="110000"/>
              </a:lnSpc>
            </a:pPr>
            <a:r>
              <a:rPr lang="en-US" sz="1575" dirty="0">
                <a:solidFill>
                  <a:srgbClr val="C4D3E4"/>
                </a:solidFill>
                <a:latin typeface="Avenir Next"/>
              </a:rPr>
              <a:t>Slides, demos, and additional resources</a:t>
            </a:r>
          </a:p>
        </p:txBody>
      </p:sp>
      <p:sp>
        <p:nvSpPr>
          <p:cNvPr id="102" name="Text 102"/>
          <p:cNvSpPr txBox="1"/>
          <p:nvPr/>
        </p:nvSpPr>
        <p:spPr>
          <a:xfrm>
            <a:off x="571500" y="1900238"/>
            <a:ext cx="2428875" cy="250031"/>
          </a:xfrm>
          <a:prstGeom prst="rect">
            <a:avLst/>
          </a:prstGeom>
          <a:noFill/>
          <a:ln>
            <a:noFill/>
          </a:ln>
        </p:spPr>
        <p:txBody>
          <a:bodyPr wrap="square" lIns="0" tIns="0" rIns="0" bIns="0" anchor="t"/>
          <a:lstStyle/>
          <a:p>
            <a:pPr defTabSz="342900">
              <a:lnSpc>
                <a:spcPct val="110000"/>
              </a:lnSpc>
            </a:pPr>
            <a:r>
              <a:rPr lang="en-US" sz="1125" b="1">
                <a:solidFill>
                  <a:srgbClr val="3FD0C9"/>
                </a:solidFill>
                <a:latin typeface="Avenir Next"/>
              </a:rPr>
              <a:t>PRESENTERS</a:t>
            </a:r>
          </a:p>
        </p:txBody>
      </p:sp>
      <p:sp>
        <p:nvSpPr>
          <p:cNvPr id="103" name="Text 103"/>
          <p:cNvSpPr txBox="1"/>
          <p:nvPr/>
        </p:nvSpPr>
        <p:spPr>
          <a:xfrm>
            <a:off x="571500" y="2250281"/>
            <a:ext cx="2607469" cy="342900"/>
          </a:xfrm>
          <a:prstGeom prst="rect">
            <a:avLst/>
          </a:prstGeom>
          <a:noFill/>
          <a:ln>
            <a:noFill/>
          </a:ln>
        </p:spPr>
        <p:txBody>
          <a:bodyPr wrap="square" lIns="0" tIns="0" rIns="0" bIns="0" anchor="t"/>
          <a:lstStyle/>
          <a:p>
            <a:pPr defTabSz="342900">
              <a:lnSpc>
                <a:spcPct val="110000"/>
              </a:lnSpc>
            </a:pPr>
            <a:r>
              <a:rPr lang="en-US" sz="1913" b="1" dirty="0">
                <a:solidFill>
                  <a:srgbClr val="E9EFF7"/>
                </a:solidFill>
                <a:latin typeface="Avenir Next"/>
              </a:rPr>
              <a:t>Seema Saharan</a:t>
            </a:r>
          </a:p>
        </p:txBody>
      </p:sp>
      <p:sp>
        <p:nvSpPr>
          <p:cNvPr id="104" name="Text 104"/>
          <p:cNvSpPr txBox="1"/>
          <p:nvPr/>
        </p:nvSpPr>
        <p:spPr>
          <a:xfrm>
            <a:off x="571500" y="2614613"/>
            <a:ext cx="2607469" cy="250031"/>
          </a:xfrm>
          <a:prstGeom prst="rect">
            <a:avLst/>
          </a:prstGeom>
          <a:noFill/>
          <a:ln>
            <a:noFill/>
          </a:ln>
        </p:spPr>
        <p:txBody>
          <a:bodyPr wrap="square" lIns="0" tIns="0" rIns="0" bIns="0" anchor="t"/>
          <a:lstStyle/>
          <a:p>
            <a:pPr defTabSz="342900">
              <a:lnSpc>
                <a:spcPct val="110000"/>
              </a:lnSpc>
            </a:pPr>
            <a:r>
              <a:rPr lang="en-US" sz="1406" dirty="0">
                <a:solidFill>
                  <a:srgbClr val="C4D3E4"/>
                </a:solidFill>
                <a:latin typeface="Avenir Next"/>
              </a:rPr>
              <a:t>Autodesk</a:t>
            </a:r>
          </a:p>
        </p:txBody>
      </p:sp>
      <p:sp>
        <p:nvSpPr>
          <p:cNvPr id="105" name="Text 105"/>
          <p:cNvSpPr txBox="1"/>
          <p:nvPr/>
        </p:nvSpPr>
        <p:spPr>
          <a:xfrm>
            <a:off x="571500" y="2921794"/>
            <a:ext cx="2607469" cy="235744"/>
          </a:xfrm>
          <a:prstGeom prst="rect">
            <a:avLst/>
          </a:prstGeom>
          <a:noFill/>
          <a:ln>
            <a:noFill/>
          </a:ln>
        </p:spPr>
        <p:txBody>
          <a:bodyPr wrap="square" lIns="0" tIns="0" rIns="0" bIns="0" anchor="t"/>
          <a:lstStyle/>
          <a:p>
            <a:pPr defTabSz="342900">
              <a:lnSpc>
                <a:spcPct val="110000"/>
              </a:lnSpc>
            </a:pPr>
            <a:r>
              <a:rPr lang="en-US" sz="1238" dirty="0">
                <a:solidFill>
                  <a:srgbClr val="8FA6C0"/>
                </a:solidFill>
                <a:latin typeface="Avenir Next"/>
              </a:rPr>
              <a:t>/in/</a:t>
            </a:r>
            <a:r>
              <a:rPr lang="en-US" sz="1238" dirty="0" err="1">
                <a:solidFill>
                  <a:srgbClr val="8FA6C0"/>
                </a:solidFill>
                <a:latin typeface="Avenir Next"/>
              </a:rPr>
              <a:t>seemasaharan</a:t>
            </a:r>
            <a:r>
              <a:rPr lang="en-US" sz="1238" dirty="0">
                <a:solidFill>
                  <a:srgbClr val="8FA6C0"/>
                </a:solidFill>
                <a:latin typeface="Avenir Next"/>
              </a:rPr>
              <a:t>/</a:t>
            </a:r>
          </a:p>
          <a:p>
            <a:pPr defTabSz="342900">
              <a:lnSpc>
                <a:spcPct val="110000"/>
              </a:lnSpc>
            </a:pPr>
            <a:endParaRPr lang="en-US" sz="1238" dirty="0">
              <a:solidFill>
                <a:srgbClr val="8FA6C0"/>
              </a:solidFill>
              <a:latin typeface="Avenir Next"/>
            </a:endParaRPr>
          </a:p>
        </p:txBody>
      </p:sp>
      <p:sp>
        <p:nvSpPr>
          <p:cNvPr id="106" name="Text 106"/>
          <p:cNvSpPr txBox="1"/>
          <p:nvPr/>
        </p:nvSpPr>
        <p:spPr>
          <a:xfrm>
            <a:off x="571500" y="3471863"/>
            <a:ext cx="2607469" cy="342900"/>
          </a:xfrm>
          <a:prstGeom prst="rect">
            <a:avLst/>
          </a:prstGeom>
          <a:noFill/>
          <a:ln>
            <a:noFill/>
          </a:ln>
        </p:spPr>
        <p:txBody>
          <a:bodyPr wrap="square" lIns="0" tIns="0" rIns="0" bIns="0" anchor="t"/>
          <a:lstStyle/>
          <a:p>
            <a:pPr defTabSz="342900">
              <a:lnSpc>
                <a:spcPct val="110000"/>
              </a:lnSpc>
            </a:pPr>
            <a:r>
              <a:rPr lang="en-US" sz="1688" b="1" dirty="0">
                <a:solidFill>
                  <a:srgbClr val="E9EFF7"/>
                </a:solidFill>
                <a:latin typeface="Avenir Next"/>
              </a:rPr>
              <a:t>Brian Graf</a:t>
            </a:r>
          </a:p>
        </p:txBody>
      </p:sp>
      <p:sp>
        <p:nvSpPr>
          <p:cNvPr id="107" name="Text 107"/>
          <p:cNvSpPr txBox="1"/>
          <p:nvPr/>
        </p:nvSpPr>
        <p:spPr>
          <a:xfrm>
            <a:off x="571500" y="3807619"/>
            <a:ext cx="2607469" cy="242888"/>
          </a:xfrm>
          <a:prstGeom prst="rect">
            <a:avLst/>
          </a:prstGeom>
          <a:noFill/>
          <a:ln>
            <a:noFill/>
          </a:ln>
        </p:spPr>
        <p:txBody>
          <a:bodyPr wrap="square" lIns="0" tIns="0" rIns="0" bIns="0" anchor="t"/>
          <a:lstStyle/>
          <a:p>
            <a:pPr defTabSz="342900">
              <a:lnSpc>
                <a:spcPct val="110000"/>
              </a:lnSpc>
            </a:pPr>
            <a:r>
              <a:rPr lang="en-US" sz="1350" dirty="0">
                <a:solidFill>
                  <a:srgbClr val="C4D3E4"/>
                </a:solidFill>
                <a:latin typeface="Avenir Next"/>
              </a:rPr>
              <a:t>NetApp Instaclustr</a:t>
            </a:r>
          </a:p>
        </p:txBody>
      </p:sp>
      <p:sp>
        <p:nvSpPr>
          <p:cNvPr id="108" name="Text 108"/>
          <p:cNvSpPr txBox="1"/>
          <p:nvPr/>
        </p:nvSpPr>
        <p:spPr>
          <a:xfrm>
            <a:off x="571500" y="4100513"/>
            <a:ext cx="2607469" cy="235744"/>
          </a:xfrm>
          <a:prstGeom prst="rect">
            <a:avLst/>
          </a:prstGeom>
          <a:noFill/>
          <a:ln>
            <a:noFill/>
          </a:ln>
        </p:spPr>
        <p:txBody>
          <a:bodyPr wrap="square" lIns="0" tIns="0" rIns="0" bIns="0" anchor="t"/>
          <a:lstStyle/>
          <a:p>
            <a:pPr defTabSz="342900">
              <a:lnSpc>
                <a:spcPct val="110000"/>
              </a:lnSpc>
            </a:pPr>
            <a:r>
              <a:rPr lang="en-US" sz="1238" dirty="0">
                <a:solidFill>
                  <a:srgbClr val="8FA6C0"/>
                </a:solidFill>
                <a:latin typeface="Avenir Next"/>
              </a:rPr>
              <a:t>/in/</a:t>
            </a:r>
            <a:r>
              <a:rPr lang="en-US" sz="1238" dirty="0" err="1">
                <a:solidFill>
                  <a:srgbClr val="8FA6C0"/>
                </a:solidFill>
                <a:latin typeface="Avenir Next"/>
              </a:rPr>
              <a:t>TheBrianGraf</a:t>
            </a:r>
            <a:endParaRPr lang="en-US" sz="1238" dirty="0">
              <a:solidFill>
                <a:srgbClr val="8FA6C0"/>
              </a:solidFill>
              <a:latin typeface="Avenir Next"/>
            </a:endParaRPr>
          </a:p>
        </p:txBody>
      </p:sp>
      <p:sp>
        <p:nvSpPr>
          <p:cNvPr id="109" name="Text 109"/>
          <p:cNvSpPr txBox="1"/>
          <p:nvPr/>
        </p:nvSpPr>
        <p:spPr>
          <a:xfrm>
            <a:off x="3479007" y="1900238"/>
            <a:ext cx="2607469" cy="250031"/>
          </a:xfrm>
          <a:prstGeom prst="rect">
            <a:avLst/>
          </a:prstGeom>
          <a:noFill/>
          <a:ln>
            <a:noFill/>
          </a:ln>
        </p:spPr>
        <p:txBody>
          <a:bodyPr wrap="square" lIns="0" tIns="0" rIns="0" bIns="0" anchor="t"/>
          <a:lstStyle/>
          <a:p>
            <a:pPr defTabSz="342900">
              <a:lnSpc>
                <a:spcPct val="110000"/>
              </a:lnSpc>
            </a:pPr>
            <a:r>
              <a:rPr lang="en-US" sz="1125" b="1" dirty="0">
                <a:solidFill>
                  <a:srgbClr val="A78BFA"/>
                </a:solidFill>
                <a:latin typeface="Avenir Next"/>
              </a:rPr>
              <a:t>RESOURCE PACK</a:t>
            </a:r>
          </a:p>
        </p:txBody>
      </p:sp>
      <p:sp>
        <p:nvSpPr>
          <p:cNvPr id="110" name="Text 110"/>
          <p:cNvSpPr txBox="1"/>
          <p:nvPr/>
        </p:nvSpPr>
        <p:spPr>
          <a:xfrm>
            <a:off x="3479007" y="2235994"/>
            <a:ext cx="2678906" cy="278606"/>
          </a:xfrm>
          <a:prstGeom prst="rect">
            <a:avLst/>
          </a:prstGeom>
          <a:noFill/>
          <a:ln>
            <a:noFill/>
          </a:ln>
        </p:spPr>
        <p:txBody>
          <a:bodyPr wrap="square" lIns="0" tIns="0" rIns="0" bIns="0" anchor="t"/>
          <a:lstStyle/>
          <a:p>
            <a:pPr defTabSz="342900">
              <a:lnSpc>
                <a:spcPct val="110000"/>
              </a:lnSpc>
            </a:pPr>
            <a:r>
              <a:rPr lang="en-US" sz="1575" b="1">
                <a:solidFill>
                  <a:srgbClr val="E9EFF7"/>
                </a:solidFill>
                <a:latin typeface="Avenir Next"/>
              </a:rPr>
              <a:t>Slides</a:t>
            </a:r>
          </a:p>
        </p:txBody>
      </p:sp>
      <p:sp>
        <p:nvSpPr>
          <p:cNvPr id="111" name="Text 111"/>
          <p:cNvSpPr txBox="1"/>
          <p:nvPr/>
        </p:nvSpPr>
        <p:spPr>
          <a:xfrm>
            <a:off x="3479007" y="2514600"/>
            <a:ext cx="2678906" cy="235744"/>
          </a:xfrm>
          <a:prstGeom prst="rect">
            <a:avLst/>
          </a:prstGeom>
          <a:noFill/>
          <a:ln>
            <a:noFill/>
          </a:ln>
        </p:spPr>
        <p:txBody>
          <a:bodyPr wrap="square" lIns="0" tIns="0" rIns="0" bIns="0" anchor="t"/>
          <a:lstStyle/>
          <a:p>
            <a:pPr defTabSz="342900">
              <a:lnSpc>
                <a:spcPct val="110000"/>
              </a:lnSpc>
            </a:pPr>
            <a:r>
              <a:rPr lang="en-US" sz="1238" dirty="0">
                <a:solidFill>
                  <a:srgbClr val="C4D3E4"/>
                </a:solidFill>
                <a:latin typeface="Avenir Next"/>
              </a:rPr>
              <a:t>PDF</a:t>
            </a:r>
          </a:p>
        </p:txBody>
      </p:sp>
      <p:sp>
        <p:nvSpPr>
          <p:cNvPr id="112" name="Text 112"/>
          <p:cNvSpPr txBox="1"/>
          <p:nvPr/>
        </p:nvSpPr>
        <p:spPr>
          <a:xfrm>
            <a:off x="3479007" y="2807494"/>
            <a:ext cx="2678906" cy="278606"/>
          </a:xfrm>
          <a:prstGeom prst="rect">
            <a:avLst/>
          </a:prstGeom>
          <a:noFill/>
          <a:ln>
            <a:noFill/>
          </a:ln>
        </p:spPr>
        <p:txBody>
          <a:bodyPr wrap="square" lIns="0" tIns="0" rIns="0" bIns="0" anchor="t"/>
          <a:lstStyle/>
          <a:p>
            <a:pPr defTabSz="342900">
              <a:lnSpc>
                <a:spcPct val="110000"/>
              </a:lnSpc>
            </a:pPr>
            <a:r>
              <a:rPr lang="en-US" sz="1575" b="1">
                <a:solidFill>
                  <a:srgbClr val="E9EFF7"/>
                </a:solidFill>
                <a:latin typeface="Avenir Next"/>
              </a:rPr>
              <a:t>Demo repository</a:t>
            </a:r>
          </a:p>
        </p:txBody>
      </p:sp>
      <p:sp>
        <p:nvSpPr>
          <p:cNvPr id="113" name="Text 113"/>
          <p:cNvSpPr txBox="1"/>
          <p:nvPr/>
        </p:nvSpPr>
        <p:spPr>
          <a:xfrm>
            <a:off x="3479007" y="3086100"/>
            <a:ext cx="2678906" cy="235744"/>
          </a:xfrm>
          <a:prstGeom prst="rect">
            <a:avLst/>
          </a:prstGeom>
          <a:noFill/>
          <a:ln>
            <a:noFill/>
          </a:ln>
        </p:spPr>
        <p:txBody>
          <a:bodyPr wrap="square" lIns="0" tIns="0" rIns="0" bIns="0" anchor="t"/>
          <a:lstStyle/>
          <a:p>
            <a:pPr defTabSz="342900">
              <a:lnSpc>
                <a:spcPct val="110000"/>
              </a:lnSpc>
            </a:pPr>
            <a:r>
              <a:rPr lang="en-US" sz="1238">
                <a:solidFill>
                  <a:srgbClr val="C4D3E4"/>
                </a:solidFill>
                <a:latin typeface="Avenir Next"/>
              </a:rPr>
              <a:t>Code, configs, and data</a:t>
            </a:r>
          </a:p>
        </p:txBody>
      </p:sp>
      <p:sp>
        <p:nvSpPr>
          <p:cNvPr id="114" name="Text 114"/>
          <p:cNvSpPr txBox="1"/>
          <p:nvPr/>
        </p:nvSpPr>
        <p:spPr>
          <a:xfrm>
            <a:off x="3479007" y="3378994"/>
            <a:ext cx="2678906" cy="278606"/>
          </a:xfrm>
          <a:prstGeom prst="rect">
            <a:avLst/>
          </a:prstGeom>
          <a:noFill/>
          <a:ln>
            <a:noFill/>
          </a:ln>
        </p:spPr>
        <p:txBody>
          <a:bodyPr wrap="square" lIns="0" tIns="0" rIns="0" bIns="0" anchor="t"/>
          <a:lstStyle/>
          <a:p>
            <a:pPr defTabSz="342900">
              <a:lnSpc>
                <a:spcPct val="110000"/>
              </a:lnSpc>
            </a:pPr>
            <a:r>
              <a:rPr lang="en-US" sz="1575" b="1" dirty="0">
                <a:solidFill>
                  <a:srgbClr val="E9EFF7"/>
                </a:solidFill>
                <a:latin typeface="Avenir Next"/>
              </a:rPr>
              <a:t>Instaclustr Free Trial</a:t>
            </a:r>
          </a:p>
        </p:txBody>
      </p:sp>
      <p:sp>
        <p:nvSpPr>
          <p:cNvPr id="115" name="Text 115"/>
          <p:cNvSpPr txBox="1"/>
          <p:nvPr/>
        </p:nvSpPr>
        <p:spPr>
          <a:xfrm>
            <a:off x="3479007" y="3657600"/>
            <a:ext cx="2678906" cy="235744"/>
          </a:xfrm>
          <a:prstGeom prst="rect">
            <a:avLst/>
          </a:prstGeom>
          <a:noFill/>
          <a:ln>
            <a:noFill/>
          </a:ln>
        </p:spPr>
        <p:txBody>
          <a:bodyPr wrap="square" lIns="0" tIns="0" rIns="0" bIns="0" anchor="t"/>
          <a:lstStyle/>
          <a:p>
            <a:pPr defTabSz="342900">
              <a:lnSpc>
                <a:spcPct val="110000"/>
              </a:lnSpc>
            </a:pPr>
            <a:r>
              <a:rPr lang="en-US" sz="1400" b="1" dirty="0">
                <a:solidFill>
                  <a:schemeClr val="accent5"/>
                </a:solidFill>
                <a:latin typeface="Avenir Next"/>
              </a:rPr>
              <a:t>https://</a:t>
            </a:r>
            <a:r>
              <a:rPr lang="en-US" sz="1400" b="1" dirty="0" err="1">
                <a:solidFill>
                  <a:schemeClr val="accent5"/>
                </a:solidFill>
                <a:latin typeface="Avenir Next"/>
              </a:rPr>
              <a:t>ntap.fyi</a:t>
            </a:r>
            <a:r>
              <a:rPr lang="en-US" sz="1400" b="1" dirty="0">
                <a:solidFill>
                  <a:schemeClr val="accent5"/>
                </a:solidFill>
                <a:latin typeface="Avenir Next"/>
              </a:rPr>
              <a:t>/free</a:t>
            </a:r>
          </a:p>
        </p:txBody>
      </p:sp>
      <p:sp>
        <p:nvSpPr>
          <p:cNvPr id="118" name="Text 118"/>
          <p:cNvSpPr txBox="1"/>
          <p:nvPr/>
        </p:nvSpPr>
        <p:spPr>
          <a:xfrm>
            <a:off x="6536531" y="1900238"/>
            <a:ext cx="2143125" cy="250031"/>
          </a:xfrm>
          <a:prstGeom prst="rect">
            <a:avLst/>
          </a:prstGeom>
          <a:noFill/>
          <a:ln>
            <a:noFill/>
          </a:ln>
        </p:spPr>
        <p:txBody>
          <a:bodyPr wrap="square" lIns="0" tIns="0" rIns="0" bIns="0" anchor="t"/>
          <a:lstStyle/>
          <a:p>
            <a:pPr defTabSz="342900">
              <a:lnSpc>
                <a:spcPct val="110000"/>
              </a:lnSpc>
            </a:pPr>
            <a:r>
              <a:rPr lang="en-US" sz="1125" b="1">
                <a:solidFill>
                  <a:srgbClr val="E0C88C"/>
                </a:solidFill>
                <a:latin typeface="Avenir Next"/>
              </a:rPr>
              <a:t>ALL LINKS IN ONE PLACE</a:t>
            </a:r>
          </a:p>
        </p:txBody>
      </p:sp>
      <p:sp>
        <p:nvSpPr>
          <p:cNvPr id="119" name="Text 119"/>
          <p:cNvSpPr txBox="1"/>
          <p:nvPr/>
        </p:nvSpPr>
        <p:spPr>
          <a:xfrm>
            <a:off x="6536532" y="4207669"/>
            <a:ext cx="2178844" cy="235744"/>
          </a:xfrm>
          <a:prstGeom prst="rect">
            <a:avLst/>
          </a:prstGeom>
          <a:noFill/>
          <a:ln>
            <a:noFill/>
          </a:ln>
        </p:spPr>
        <p:txBody>
          <a:bodyPr wrap="square" lIns="0" tIns="0" rIns="0" bIns="0" anchor="t"/>
          <a:lstStyle/>
          <a:p>
            <a:pPr defTabSz="342900">
              <a:lnSpc>
                <a:spcPct val="100000"/>
              </a:lnSpc>
            </a:pPr>
            <a:r>
              <a:rPr lang="en-US" dirty="0" err="1">
                <a:solidFill>
                  <a:schemeClr val="bg2"/>
                </a:solidFill>
              </a:rPr>
              <a:t>ntap.fyi</a:t>
            </a:r>
            <a:r>
              <a:rPr lang="en-US" b="1" dirty="0">
                <a:solidFill>
                  <a:schemeClr val="bg2"/>
                </a:solidFill>
              </a:rPr>
              <a:t>/oscna2026</a:t>
            </a:r>
            <a:endParaRPr lang="en-US" sz="1238" b="1" dirty="0">
              <a:solidFill>
                <a:schemeClr val="bg2"/>
              </a:solidFill>
              <a:latin typeface="Avenir Next"/>
            </a:endParaRPr>
          </a:p>
        </p:txBody>
      </p:sp>
      <p:sp>
        <p:nvSpPr>
          <p:cNvPr id="121" name="Text 121"/>
          <p:cNvSpPr txBox="1"/>
          <p:nvPr/>
        </p:nvSpPr>
        <p:spPr>
          <a:xfrm>
            <a:off x="7858125" y="4814888"/>
            <a:ext cx="928688" cy="171450"/>
          </a:xfrm>
          <a:prstGeom prst="rect">
            <a:avLst/>
          </a:prstGeom>
          <a:noFill/>
          <a:ln>
            <a:noFill/>
          </a:ln>
        </p:spPr>
        <p:txBody>
          <a:bodyPr wrap="square" lIns="0" tIns="0" rIns="0" bIns="0" anchor="t"/>
          <a:lstStyle/>
          <a:p>
            <a:pPr defTabSz="342900">
              <a:lnSpc>
                <a:spcPct val="110000"/>
              </a:lnSpc>
            </a:pPr>
            <a:r>
              <a:rPr lang="en-US" sz="900" dirty="0">
                <a:solidFill>
                  <a:srgbClr val="8FA6C0"/>
                </a:solidFill>
                <a:latin typeface="Menlo"/>
              </a:rPr>
              <a:t>12 / 12</a:t>
            </a:r>
          </a:p>
        </p:txBody>
      </p:sp>
      <p:pic>
        <p:nvPicPr>
          <p:cNvPr id="3" name="Picture 2">
            <a:extLst>
              <a:ext uri="{FF2B5EF4-FFF2-40B4-BE49-F238E27FC236}">
                <a16:creationId xmlns:a16="http://schemas.microsoft.com/office/drawing/2014/main" id="{A8800D27-2B54-A662-7A1F-5F1CD971CCD5}"/>
              </a:ext>
            </a:extLst>
          </p:cNvPr>
          <p:cNvPicPr>
            <a:picLocks noChangeAspect="1"/>
          </p:cNvPicPr>
          <p:nvPr/>
        </p:nvPicPr>
        <p:blipFill>
          <a:blip r:embed="rId3"/>
          <a:stretch>
            <a:fillRect/>
          </a:stretch>
        </p:blipFill>
        <p:spPr>
          <a:xfrm>
            <a:off x="6514776" y="2200276"/>
            <a:ext cx="1821656" cy="182165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TotalTime>
  <Words>2651</Words>
  <Application>Microsoft Macintosh PowerPoint</Application>
  <PresentationFormat>On-screen Show (16:9)</PresentationFormat>
  <Paragraphs>205</Paragraphs>
  <Slides>13</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13</vt:i4>
      </vt:variant>
    </vt:vector>
  </HeadingPairs>
  <TitlesOfParts>
    <vt:vector size="22" baseType="lpstr">
      <vt:lpstr>Aptos</vt:lpstr>
      <vt:lpstr>Arial</vt:lpstr>
      <vt:lpstr>Avenir Next</vt:lpstr>
      <vt:lpstr>Calibri</vt:lpstr>
      <vt:lpstr>Cambria</vt:lpstr>
      <vt:lpstr>Courier New</vt:lpstr>
      <vt:lpstr>Menlo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Brian Graf</cp:lastModifiedBy>
  <cp:revision>20</cp:revision>
  <dcterms:created xsi:type="dcterms:W3CDTF">2026-09-09T15:08:52Z</dcterms:created>
  <dcterms:modified xsi:type="dcterms:W3CDTF">2026-09-22T05:41:42Z</dcterms:modified>
</cp:coreProperties>
</file>